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256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0322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0644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0E5046"/>
          </a:solidFill>
          <a:ln w="12700">
            <a:solidFill>
              <a:srgbClr val="1C675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3" name="Text 1"/>
          <p:cNvSpPr/>
          <p:nvPr/>
        </p:nvSpPr>
        <p:spPr>
          <a:xfrm>
            <a:off x="566928" y="58064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121408" y="6016752"/>
            <a:ext cx="310896" cy="0"/>
          </a:xfrm>
          <a:prstGeom prst="line">
            <a:avLst/>
          </a:prstGeom>
          <a:noFill/>
          <a:ln w="19050">
            <a:solidFill>
              <a:srgbClr val="2A6E5E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Shape 3"/>
          <p:cNvSpPr/>
          <p:nvPr/>
        </p:nvSpPr>
        <p:spPr>
          <a:xfrm>
            <a:off x="2432304" y="580644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0E5046"/>
          </a:solidFill>
          <a:ln w="12700">
            <a:solidFill>
              <a:srgbClr val="1C675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2432304" y="58064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986784" y="6016752"/>
            <a:ext cx="310896" cy="0"/>
          </a:xfrm>
          <a:prstGeom prst="line">
            <a:avLst/>
          </a:prstGeom>
          <a:noFill/>
          <a:ln w="19050">
            <a:solidFill>
              <a:srgbClr val="2A6E5E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Shape 6"/>
          <p:cNvSpPr/>
          <p:nvPr/>
        </p:nvSpPr>
        <p:spPr>
          <a:xfrm>
            <a:off x="4297680" y="580644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0E5046"/>
          </a:solidFill>
          <a:ln w="12700">
            <a:solidFill>
              <a:srgbClr val="1C675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9" name="Text 7"/>
          <p:cNvSpPr/>
          <p:nvPr/>
        </p:nvSpPr>
        <p:spPr>
          <a:xfrm>
            <a:off x="4297680" y="58064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0" y="6016752"/>
            <a:ext cx="310896" cy="0"/>
          </a:xfrm>
          <a:prstGeom prst="line">
            <a:avLst/>
          </a:prstGeom>
          <a:noFill/>
          <a:ln w="19050">
            <a:solidFill>
              <a:srgbClr val="2A6E5E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Shape 9"/>
          <p:cNvSpPr/>
          <p:nvPr/>
        </p:nvSpPr>
        <p:spPr>
          <a:xfrm>
            <a:off x="6163056" y="580644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0E5046"/>
          </a:solidFill>
          <a:ln w="12700">
            <a:solidFill>
              <a:srgbClr val="1C675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2" name="Text 10"/>
          <p:cNvSpPr/>
          <p:nvPr/>
        </p:nvSpPr>
        <p:spPr>
          <a:xfrm>
            <a:off x="6163056" y="58064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141732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THESIS  ·  2026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187452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Creating Value with</a:t>
            </a:r>
            <a:endParaRPr lang="en-US" sz="5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in Marketing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566928" y="397764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marketing managers turn the promise of autonomous AI into value: a constructivist grounded-theory study.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6928" y="4892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Daan Luttik</a:t>
            </a:r>
            <a:r>
              <a:rPr lang="en-US" sz="1250" dirty="0">
                <a:solidFill>
                  <a:srgbClr val="8F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Grounded in seventeen interviews with marketing managers and AI experts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study agentic AI in marketing?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6446520" cy="1298448"/>
          </a:xfrm>
          <a:prstGeom prst="roundRect">
            <a:avLst>
              <a:gd name="adj" fmla="val 4930"/>
            </a:avLst>
          </a:prstGeom>
          <a:solidFill>
            <a:srgbClr val="EDF2E6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795528" y="1700784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$4.4T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898648" y="1700784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productivity upside from generative AI, and marketing &amp; sales is its single largest slice, about one third (Mayer et al., 2025).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85216" y="3209544"/>
            <a:ext cx="155448" cy="155448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914400" y="3099816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AI in marketing is still mostly a question-and-answer machine.  </a:t>
            </a:r>
            <a:r>
              <a:rPr lang="en-US" sz="13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brainstorming and content generation, rather than doing the everyday work itself (Brinker &amp; Riemersma, 2025).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5216" y="4242816"/>
            <a:ext cx="155448" cy="155448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914400" y="4133088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changes the premise.  </a:t>
            </a:r>
            <a:r>
              <a:rPr lang="en-US" sz="13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act and take steps in pursuit of a goal across complex, multi-step tasks (Moralles et al., 2026).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5216" y="5276088"/>
            <a:ext cx="155448" cy="155448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2" name="Text 10"/>
          <p:cNvSpPr/>
          <p:nvPr/>
        </p:nvSpPr>
        <p:spPr>
          <a:xfrm>
            <a:off x="914400" y="516636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managers turn that promise into value is largely unexplored.  </a:t>
            </a:r>
            <a:r>
              <a:rPr lang="en-US" sz="13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 issue explicit calls for firm-level evidence on agentic AI in marketing (Kim, 2025).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60920" y="1627632"/>
            <a:ext cx="4279392" cy="4498848"/>
          </a:xfrm>
          <a:prstGeom prst="roundRect">
            <a:avLst>
              <a:gd name="adj" fmla="val 1496"/>
            </a:avLst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  <a:effectLst>
            <a:outerShdw blurRad="114300" dist="38100" dir="5400000" algn="bl" rotWithShape="0">
              <a:srgbClr val="16241E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768096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80960" y="22402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marketing managers create value with agentic AI?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7680960" y="3822192"/>
            <a:ext cx="3611880" cy="0"/>
          </a:xfrm>
          <a:prstGeom prst="line">
            <a:avLst/>
          </a:prstGeom>
          <a:noFill/>
          <a:ln w="12700">
            <a:solidFill>
              <a:srgbClr val="1F665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7680960" y="3959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 THREE SUB-QUESTIONS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680960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28432" y="4297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translate agentic AI opportunities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80960" y="4882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28432" y="48646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agentic AI within their organizations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80960" y="5449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28432" y="54315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the benefits, sacrifices, and risks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streams of literature frame the study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58384" cy="2249424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08176" y="1847088"/>
            <a:ext cx="4306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agentic AI works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414016"/>
            <a:ext cx="4809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Transformer and LLMs to retrieval (RAG), the reason-and-act loop, and tool calling, AI gained the ability to act. Agentic AI combines autonomy, goal-directedness, adaptivity, and proactivity.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841248" y="3374136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8000"/>
              </a:lnSpc>
              <a:buNone/>
            </a:pPr>
            <a:r>
              <a:rPr lang="en-US" sz="1000" i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Vaswani et al., 2017 · Yao et al., 2023 · Hughes et al., 2025 · Moralles et al.,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81928" y="1627632"/>
            <a:ext cx="5358384" cy="2249424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6537960" y="18288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123176" y="1847088"/>
            <a:ext cx="4306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 marketing, and the gap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414016"/>
            <a:ext cx="4809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already drafts copy, generates imagery, and synthesizes insight, but empirical work on agentic, goal-pursuing use beyond content is scarce. Scholars call for research.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6556248" y="3374136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8000"/>
              </a:lnSpc>
              <a:buNone/>
            </a:pPr>
            <a:r>
              <a:rPr lang="en-US" sz="1000" i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Wahid et al., 2023 · Grewal et al., 2025 · Kim, 2025 · Mogaji &amp; Jain, 2024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4005072"/>
            <a:ext cx="5358384" cy="2249424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5" name="Text 13"/>
          <p:cNvSpPr/>
          <p:nvPr/>
        </p:nvSpPr>
        <p:spPr>
          <a:xfrm>
            <a:off x="822960" y="4206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08176" y="4224528"/>
            <a:ext cx="4306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from digital transformation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" y="4791456"/>
            <a:ext cx="4809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value is mediated by complementary assets and organizational readiness, not the tool alone, hence the digitalization paradox and process debt.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841248" y="5751576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8000"/>
              </a:lnSpc>
              <a:buNone/>
            </a:pPr>
            <a:r>
              <a:rPr lang="en-US" sz="1000" i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Enholm et al., 2022 · Holmström, 2022 · Fernandez-Vidal et al., 2022 · Gebauer et al., 2020 · Srivastava, 2026 · Schmidt et al., 2026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81928" y="4005072"/>
            <a:ext cx="5358384" cy="2249424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123176" y="4224528"/>
            <a:ext cx="4306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counts as value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56248" y="4791456"/>
            <a:ext cx="4809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is multidimensional: the perceived benefits minus the perceived costs, spanning functional, emotional, and strategic gains, and it can be destroyed as well as created.</a:t>
            </a:r>
            <a:endParaRPr lang="en-US" sz="1230" dirty="0"/>
          </a:p>
        </p:txBody>
      </p:sp>
      <p:sp>
        <p:nvSpPr>
          <p:cNvPr id="23" name="Text 21"/>
          <p:cNvSpPr/>
          <p:nvPr/>
        </p:nvSpPr>
        <p:spPr>
          <a:xfrm>
            <a:off x="6556248" y="5751576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8000"/>
              </a:lnSpc>
              <a:buNone/>
            </a:pPr>
            <a:r>
              <a:rPr lang="en-US" sz="1000" i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Woodside et al., 2008 · Almquist et al., 2016 · Doshi &amp; Hauser, 2024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process model of managerial value creation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24612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00312A"/>
            </a:solidFill>
            <a:prstDash val="solid"/>
          </a:ln>
          <a:effectLst>
            <a:outerShdw blurRad="114300" dist="38100" dir="5400000" algn="bl" rotWithShape="0">
              <a:srgbClr val="16241E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822960" y="192938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Observing</a:t>
            </a:r>
            <a:endParaRPr lang="en-US" sz="14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external conditions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496312"/>
            <a:ext cx="2807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progression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pressure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3703320"/>
            <a:ext cx="3246120" cy="2084832"/>
          </a:xfrm>
          <a:prstGeom prst="roundRect">
            <a:avLst>
              <a:gd name="adj" fmla="val 3070"/>
            </a:avLst>
          </a:prstGeom>
          <a:solidFill>
            <a:srgbClr val="FFFFFF"/>
          </a:solidFill>
          <a:ln w="12700">
            <a:solidFill>
              <a:srgbClr val="00312A"/>
            </a:solidFill>
            <a:prstDash val="solid"/>
          </a:ln>
          <a:effectLst>
            <a:outerShdw blurRad="114300" dist="38100" dir="5400000" algn="bl" rotWithShape="0">
              <a:srgbClr val="16241E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822960" y="384962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Navigating the</a:t>
            </a:r>
            <a:endParaRPr lang="en-US" sz="14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organizational context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41248" y="4416552"/>
            <a:ext cx="27889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the marketing department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Leveraging technical resources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Dealing with compliance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17720" y="2240280"/>
            <a:ext cx="3611880" cy="1778267"/>
          </a:xfrm>
          <a:prstGeom prst="roundRect">
            <a:avLst>
              <a:gd name="adj" fmla="val 2090"/>
            </a:avLst>
          </a:prstGeom>
          <a:solidFill>
            <a:srgbClr val="FFFFFF"/>
          </a:solidFill>
          <a:ln w="12700">
            <a:solidFill>
              <a:srgbClr val="00312A"/>
            </a:solidFill>
            <a:prstDash val="solid"/>
          </a:ln>
          <a:effectLst>
            <a:outerShdw blurRad="114300" dist="38100" dir="5400000" algn="bl" rotWithShape="0">
              <a:srgbClr val="16241E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4873752" y="23865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Applying agentic AI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73752" y="2953512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insights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and validating content and campaigns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Utilizing generic agents for personal work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Employing customer-facing agents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732520" y="2743200"/>
            <a:ext cx="2907792" cy="2057400"/>
          </a:xfrm>
          <a:prstGeom prst="roundRect">
            <a:avLst>
              <a:gd name="adj" fmla="val 3111"/>
            </a:avLst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  <a:effectLst>
            <a:outerShdw blurRad="114300" dist="38100" dir="5400000" algn="bl" rotWithShape="0">
              <a:srgbClr val="16241E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9006840" y="2926080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Obtaining</a:t>
            </a:r>
            <a:endParaRPr lang="en-US" sz="14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 outcomes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025128" y="370332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58768" y="2760766"/>
            <a:ext cx="658368" cy="292608"/>
          </a:xfrm>
          <a:prstGeom prst="rightArrow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0" name="Shape 18"/>
          <p:cNvSpPr/>
          <p:nvPr/>
        </p:nvSpPr>
        <p:spPr>
          <a:xfrm>
            <a:off x="3858768" y="4088087"/>
            <a:ext cx="658368" cy="292608"/>
          </a:xfrm>
          <a:prstGeom prst="rightArrow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1" name="Shape 19"/>
          <p:cNvSpPr/>
          <p:nvPr/>
        </p:nvSpPr>
        <p:spPr>
          <a:xfrm>
            <a:off x="8275320" y="3621024"/>
            <a:ext cx="393192" cy="292608"/>
          </a:xfrm>
          <a:prstGeom prst="rightArrow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2" name="Text 20"/>
          <p:cNvSpPr/>
          <p:nvPr/>
        </p:nvSpPr>
        <p:spPr>
          <a:xfrm>
            <a:off x="566928" y="598932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 Bold arrows describe managerial behaviors; boxes represent the concepts acted upon.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5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 ·  STEP 1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Observing external conditions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07208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7" name="Shape 5"/>
          <p:cNvSpPr/>
          <p:nvPr/>
        </p:nvSpPr>
        <p:spPr>
          <a:xfrm>
            <a:off x="3374136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374136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14416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8"/>
          <p:cNvSpPr/>
          <p:nvPr/>
        </p:nvSpPr>
        <p:spPr>
          <a:xfrm>
            <a:off x="6181344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Text 9"/>
          <p:cNvSpPr/>
          <p:nvPr/>
        </p:nvSpPr>
        <p:spPr>
          <a:xfrm>
            <a:off x="6181344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21624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Shape 11"/>
          <p:cNvSpPr/>
          <p:nvPr/>
        </p:nvSpPr>
        <p:spPr>
          <a:xfrm>
            <a:off x="8988552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8988552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21031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0E50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and interpreting the organization’s changing context: sensing the impetus to change before deciding how to respond.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2788920"/>
            <a:ext cx="5358384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841248" y="3008376"/>
            <a:ext cx="4855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progression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" y="3538728"/>
            <a:ext cx="4828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moves in a “hockey stick”: capabilities and adoption rise faster than teams can track.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managers stop chasing every model and lean on their default vendor’s AI roadmap as a safe haven.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recurring trap: capability is presented as operational before it truly is.</a:t>
            </a:r>
            <a:endParaRPr lang="en-US" sz="1230" dirty="0"/>
          </a:p>
        </p:txBody>
      </p:sp>
      <p:sp>
        <p:nvSpPr>
          <p:cNvPr id="19" name="Text 17"/>
          <p:cNvSpPr/>
          <p:nvPr/>
        </p:nvSpPr>
        <p:spPr>
          <a:xfrm>
            <a:off x="841248" y="4736592"/>
            <a:ext cx="4828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i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“We’re living in an era of change, and a change of era simultaneously.”  </a:t>
            </a:r>
            <a:r>
              <a:rPr lang="en-US" sz="11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Interviewee 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81928" y="2788920"/>
            <a:ext cx="5358384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1" name="Text 19"/>
          <p:cNvSpPr/>
          <p:nvPr/>
        </p:nvSpPr>
        <p:spPr>
          <a:xfrm>
            <a:off x="6556248" y="3008376"/>
            <a:ext cx="4855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pressure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56248" y="3538728"/>
            <a:ext cx="4828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pressure is mostly defensive: act so as not to be “left behind”, reaching parity rather than novel value.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is shifting: search moves into AI, and “agents of consumers” emerge as a new intermediary.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Anticipated agentic commerce already drives early, forward-looking investments.</a:t>
            </a:r>
            <a:endParaRPr lang="en-US" sz="1230" dirty="0"/>
          </a:p>
        </p:txBody>
      </p:sp>
      <p:sp>
        <p:nvSpPr>
          <p:cNvPr id="23" name="Text 21"/>
          <p:cNvSpPr/>
          <p:nvPr/>
        </p:nvSpPr>
        <p:spPr>
          <a:xfrm>
            <a:off x="6556248" y="4736592"/>
            <a:ext cx="4828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i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“Almost everyone’s been very positive about it because they want to not be left behind.”  </a:t>
            </a:r>
            <a:r>
              <a:rPr lang="en-US" sz="11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Interviewee 8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5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 ·  STEP 2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Navigating the organizational context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07208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7" name="Shape 5"/>
          <p:cNvSpPr/>
          <p:nvPr/>
        </p:nvSpPr>
        <p:spPr>
          <a:xfrm>
            <a:off x="3374136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374136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14416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8"/>
          <p:cNvSpPr/>
          <p:nvPr/>
        </p:nvSpPr>
        <p:spPr>
          <a:xfrm>
            <a:off x="6181344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Text 9"/>
          <p:cNvSpPr/>
          <p:nvPr/>
        </p:nvSpPr>
        <p:spPr>
          <a:xfrm>
            <a:off x="6181344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21624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Shape 11"/>
          <p:cNvSpPr/>
          <p:nvPr/>
        </p:nvSpPr>
        <p:spPr>
          <a:xfrm>
            <a:off x="8988552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8988552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208483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0E50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or working around the internal conditions that enable or constrain agentic AI. The decisive factor is the context, not the technology.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549640" y="1993392"/>
            <a:ext cx="3090672" cy="868680"/>
          </a:xfrm>
          <a:prstGeom prst="roundRect">
            <a:avLst>
              <a:gd name="adj" fmla="val 7368"/>
            </a:avLst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  <a:effectLst>
            <a:outerShdw blurRad="114300" dist="38100" dir="5400000" algn="bl" rotWithShape="0">
              <a:srgbClr val="16241E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8778240" y="199339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people &amp; organization</a:t>
            </a:r>
            <a:endParaRPr lang="en-US" sz="2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technology  (Interviewee 14)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9" name="Text 17"/>
          <p:cNvSpPr/>
          <p:nvPr/>
        </p:nvSpPr>
        <p:spPr>
          <a:xfrm>
            <a:off x="841248" y="3282696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Steering the marketing department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1248" y="3813048"/>
            <a:ext cx="29992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people along to ease resistance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Stimulating experimentation, “the laboratory”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direction; backed by AI champions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4334256" y="306324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2" name="Text 20"/>
          <p:cNvSpPr/>
          <p:nvPr/>
        </p:nvSpPr>
        <p:spPr>
          <a:xfrm>
            <a:off x="4608576" y="3282696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Leveraging technical resources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08576" y="3813048"/>
            <a:ext cx="29992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infrastructure, tooling, and talent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owned by other teams, not marketing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CMO should be the CTO’s best friend”</a:t>
            </a:r>
            <a:endParaRPr lang="en-US" sz="1230" dirty="0"/>
          </a:p>
        </p:txBody>
      </p:sp>
      <p:sp>
        <p:nvSpPr>
          <p:cNvPr id="24" name="Shape 22"/>
          <p:cNvSpPr/>
          <p:nvPr/>
        </p:nvSpPr>
        <p:spPr>
          <a:xfrm>
            <a:off x="8101584" y="306324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5" name="Text 23"/>
          <p:cNvSpPr/>
          <p:nvPr/>
        </p:nvSpPr>
        <p:spPr>
          <a:xfrm>
            <a:off x="8375904" y="3282696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Dealing with compliance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375904" y="3813048"/>
            <a:ext cx="29992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as-is; rarely negotiated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single biggest inhibitor of adoption</a:t>
            </a:r>
            <a:endParaRPr lang="en-US" sz="123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and shadow IT fill the gap</a:t>
            </a:r>
            <a:endParaRPr lang="en-US" sz="1230" dirty="0"/>
          </a:p>
        </p:txBody>
      </p:sp>
      <p:sp>
        <p:nvSpPr>
          <p:cNvPr id="27" name="Text 25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5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 ·  STEP 3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Applying agentic AI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07208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7" name="Shape 5"/>
          <p:cNvSpPr/>
          <p:nvPr/>
        </p:nvSpPr>
        <p:spPr>
          <a:xfrm>
            <a:off x="3374136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374136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14416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8"/>
          <p:cNvSpPr/>
          <p:nvPr/>
        </p:nvSpPr>
        <p:spPr>
          <a:xfrm>
            <a:off x="6181344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Text 9"/>
          <p:cNvSpPr/>
          <p:nvPr/>
        </p:nvSpPr>
        <p:spPr>
          <a:xfrm>
            <a:off x="6181344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21624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Shape 11"/>
          <p:cNvSpPr/>
          <p:nvPr/>
        </p:nvSpPr>
        <p:spPr>
          <a:xfrm>
            <a:off x="8988552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8988552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21031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0E50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agentic AI to work through concrete use cases inside the marketing function.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2606040"/>
            <a:ext cx="5358384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7" name="Shape 15"/>
          <p:cNvSpPr/>
          <p:nvPr/>
        </p:nvSpPr>
        <p:spPr>
          <a:xfrm>
            <a:off x="822960" y="2843784"/>
            <a:ext cx="457200" cy="457200"/>
          </a:xfrm>
          <a:prstGeom prst="ellipse">
            <a:avLst/>
          </a:prstGeom>
          <a:solidFill>
            <a:srgbClr val="EDF2E6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8" name="Text 16"/>
          <p:cNvSpPr/>
          <p:nvPr/>
        </p:nvSpPr>
        <p:spPr>
          <a:xfrm>
            <a:off x="82296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08176" y="2807208"/>
            <a:ext cx="4306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Generating insights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08176" y="3355848"/>
            <a:ext cx="430682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at scale across structured and unstructured, internal and public data. Value hinges on data connectivity: connected sources turn week-long reporting into minutes.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2606040"/>
            <a:ext cx="5358384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2" name="Shape 20"/>
          <p:cNvSpPr/>
          <p:nvPr/>
        </p:nvSpPr>
        <p:spPr>
          <a:xfrm>
            <a:off x="6537960" y="2843784"/>
            <a:ext cx="457200" cy="457200"/>
          </a:xfrm>
          <a:prstGeom prst="ellipse">
            <a:avLst/>
          </a:prstGeom>
          <a:solidFill>
            <a:srgbClr val="EDF2E6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3" name="Text 21"/>
          <p:cNvSpPr/>
          <p:nvPr/>
        </p:nvSpPr>
        <p:spPr>
          <a:xfrm>
            <a:off x="653796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23176" y="2807208"/>
            <a:ext cx="4306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Creating &amp; validating content and campaigns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23176" y="3355848"/>
            <a:ext cx="430682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pipelines from ideation to segmentation, targeting, and validation. Strong on standardized scale, still weak on brand-led creative.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370832"/>
            <a:ext cx="5358384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7" name="Shape 25"/>
          <p:cNvSpPr/>
          <p:nvPr/>
        </p:nvSpPr>
        <p:spPr>
          <a:xfrm>
            <a:off x="822960" y="4608576"/>
            <a:ext cx="457200" cy="457200"/>
          </a:xfrm>
          <a:prstGeom prst="ellipse">
            <a:avLst/>
          </a:prstGeom>
          <a:solidFill>
            <a:srgbClr val="EDF2E6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8" name="Text 26"/>
          <p:cNvSpPr/>
          <p:nvPr/>
        </p:nvSpPr>
        <p:spPr>
          <a:xfrm>
            <a:off x="822960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08176" y="4572000"/>
            <a:ext cx="4306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Utilizing generic agents for personal work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408176" y="5120640"/>
            <a:ext cx="430682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agents configured as a “personal operating system”, plus no-code process automation (e.g. Make, n8n) that can replace manual steps.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81928" y="4370832"/>
            <a:ext cx="5358384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32" name="Shape 30"/>
          <p:cNvSpPr/>
          <p:nvPr/>
        </p:nvSpPr>
        <p:spPr>
          <a:xfrm>
            <a:off x="6537960" y="4608576"/>
            <a:ext cx="457200" cy="457200"/>
          </a:xfrm>
          <a:prstGeom prst="ellipse">
            <a:avLst/>
          </a:prstGeom>
          <a:solidFill>
            <a:srgbClr val="EDF2E6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33" name="Text 31"/>
          <p:cNvSpPr/>
          <p:nvPr/>
        </p:nvSpPr>
        <p:spPr>
          <a:xfrm>
            <a:off x="6537960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23176" y="4572000"/>
            <a:ext cx="4306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Employing customer-facing agents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123176" y="5120640"/>
            <a:ext cx="430682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chatbots that act, not just answer, driving retention and upsell, plus an emerging move to support the customer’s own agents.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5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 ·  STEP 4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Obtaining value outcomes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07208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7" name="Shape 5"/>
          <p:cNvSpPr/>
          <p:nvPr/>
        </p:nvSpPr>
        <p:spPr>
          <a:xfrm>
            <a:off x="3374136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374136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14416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8"/>
          <p:cNvSpPr/>
          <p:nvPr/>
        </p:nvSpPr>
        <p:spPr>
          <a:xfrm>
            <a:off x="6181344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Text 9"/>
          <p:cNvSpPr/>
          <p:nvPr/>
        </p:nvSpPr>
        <p:spPr>
          <a:xfrm>
            <a:off x="6181344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</a:t>
            </a:r>
            <a:r>
              <a:rPr lang="en-US" sz="125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21624" y="1645920"/>
            <a:ext cx="566928" cy="0"/>
          </a:xfrm>
          <a:prstGeom prst="line">
            <a:avLst/>
          </a:prstGeom>
          <a:noFill/>
          <a:ln w="1905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Shape 11"/>
          <p:cNvSpPr/>
          <p:nvPr/>
        </p:nvSpPr>
        <p:spPr>
          <a:xfrm>
            <a:off x="8988552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8988552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21031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0E50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result through value theory: value is the balance of benefits against costs (Woodside et al., 2008).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2788920"/>
            <a:ext cx="3529584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7" name="Shape 15"/>
          <p:cNvSpPr/>
          <p:nvPr/>
        </p:nvSpPr>
        <p:spPr>
          <a:xfrm>
            <a:off x="841248" y="3081528"/>
            <a:ext cx="182880" cy="182880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8" name="Text 16"/>
          <p:cNvSpPr/>
          <p:nvPr/>
        </p:nvSpPr>
        <p:spPr>
          <a:xfrm>
            <a:off x="1115568" y="2971800"/>
            <a:ext cx="2798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6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" y="3502152"/>
            <a:ext cx="29992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Efficiency: the largest, most consistent gain</a:t>
            </a:r>
            <a:endParaRPr lang="en-US" sz="120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Scalability: “armies of super interns”</a:t>
            </a:r>
            <a:endParaRPr lang="en-US" sz="120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of the personal skillset</a:t>
            </a:r>
            <a:endParaRPr lang="en-US" sz="120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output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34256" y="2788920"/>
            <a:ext cx="3529584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1" name="Shape 19"/>
          <p:cNvSpPr/>
          <p:nvPr/>
        </p:nvSpPr>
        <p:spPr>
          <a:xfrm>
            <a:off x="4608576" y="3081528"/>
            <a:ext cx="182880" cy="182880"/>
          </a:xfrm>
          <a:prstGeom prst="ellipse">
            <a:avLst/>
          </a:prstGeom>
          <a:solidFill>
            <a:srgbClr val="B07F25"/>
          </a:solidFill>
          <a:ln w="12700">
            <a:solidFill>
              <a:srgbClr val="B07F25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2" name="Text 20"/>
          <p:cNvSpPr/>
          <p:nvPr/>
        </p:nvSpPr>
        <p:spPr>
          <a:xfrm>
            <a:off x="4882896" y="2971800"/>
            <a:ext cx="2798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07F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Sacrifices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608576" y="3502152"/>
            <a:ext cx="29992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i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to materialize</a:t>
            </a:r>
            <a:endParaRPr lang="en-US" sz="120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cost: “AI is also very expensive”</a:t>
            </a:r>
            <a:endParaRPr lang="en-US" sz="120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displacement and role change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01584" y="2788920"/>
            <a:ext cx="3529584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5" name="Shape 23"/>
          <p:cNvSpPr/>
          <p:nvPr/>
        </p:nvSpPr>
        <p:spPr>
          <a:xfrm>
            <a:off x="8375904" y="3081528"/>
            <a:ext cx="182880" cy="182880"/>
          </a:xfrm>
          <a:prstGeom prst="ellipse">
            <a:avLst/>
          </a:prstGeom>
          <a:solidFill>
            <a:srgbClr val="A24B36"/>
          </a:solidFill>
          <a:ln w="12700">
            <a:solidFill>
              <a:srgbClr val="A24B36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6" name="Text 24"/>
          <p:cNvSpPr/>
          <p:nvPr/>
        </p:nvSpPr>
        <p:spPr>
          <a:xfrm>
            <a:off x="8650224" y="2971800"/>
            <a:ext cx="2798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24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75904" y="3502152"/>
            <a:ext cx="29992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i="1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Uncertain, often manageable</a:t>
            </a:r>
            <a:endParaRPr lang="en-US" sz="120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Hallucinations: “sense-check a mediocre analyst”</a:t>
            </a:r>
            <a:endParaRPr lang="en-US" sz="120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 violations</a:t>
            </a:r>
            <a:endParaRPr lang="en-US" sz="1200" dirty="0"/>
          </a:p>
          <a:p>
            <a:pPr marL="165100" indent="-1651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brand impact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559552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EDF2E6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9" name="Text 27"/>
          <p:cNvSpPr/>
          <p:nvPr/>
        </p:nvSpPr>
        <p:spPr>
          <a:xfrm>
            <a:off x="841248" y="5559552"/>
            <a:ext cx="105091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twist:  </a:t>
            </a:r>
            <a:r>
              <a:rPr lang="en-US" sz="12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very same use case proved transformative in one firm and stalled in another, with outcomes highly uneven.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1 OF 4 · DIVERGENT OUTCOMES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beats technology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50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use cases produced very different outcomes across firms. The deciding factor was the organizational context and managerial behavior, not the use case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51760" cy="457200"/>
          </a:xfrm>
          <a:prstGeom prst="rect">
            <a:avLst/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749808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18688" y="2212848"/>
            <a:ext cx="4224528" cy="457200"/>
          </a:xfrm>
          <a:prstGeom prst="rect">
            <a:avLst/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401568" y="2212848"/>
            <a:ext cx="3950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created value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43216" y="2212848"/>
            <a:ext cx="4224528" cy="457200"/>
          </a:xfrm>
          <a:prstGeom prst="rect">
            <a:avLst/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7626096" y="2212848"/>
            <a:ext cx="3950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A9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fell short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26517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2" name="Text 10"/>
          <p:cNvSpPr/>
          <p:nvPr/>
        </p:nvSpPr>
        <p:spPr>
          <a:xfrm>
            <a:off x="749808" y="2670048"/>
            <a:ext cx="2331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Self-service analytics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218688" y="2670048"/>
            <a:ext cx="42245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Shape 12"/>
          <p:cNvSpPr/>
          <p:nvPr/>
        </p:nvSpPr>
        <p:spPr>
          <a:xfrm>
            <a:off x="3401568" y="2852928"/>
            <a:ext cx="146304" cy="146304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5" name="Text 13"/>
          <p:cNvSpPr/>
          <p:nvPr/>
        </p:nvSpPr>
        <p:spPr>
          <a:xfrm>
            <a:off x="3675888" y="2706624"/>
            <a:ext cx="3584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connected directly to the agent; reporting answered in minutes (I15, I4)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7443216" y="2670048"/>
            <a:ext cx="42245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7" name="Shape 15"/>
          <p:cNvSpPr/>
          <p:nvPr/>
        </p:nvSpPr>
        <p:spPr>
          <a:xfrm>
            <a:off x="7626096" y="2852928"/>
            <a:ext cx="146304" cy="146304"/>
          </a:xfrm>
          <a:prstGeom prst="ellipse">
            <a:avLst/>
          </a:prstGeom>
          <a:solidFill>
            <a:srgbClr val="A24B36"/>
          </a:solidFill>
          <a:ln w="12700">
            <a:solidFill>
              <a:srgbClr val="A24B36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8" name="Text 16"/>
          <p:cNvSpPr/>
          <p:nvPr/>
        </p:nvSpPr>
        <p:spPr>
          <a:xfrm>
            <a:off x="7900416" y="2706624"/>
            <a:ext cx="3584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infrastructure or integration, forcing manual workarounds (I3)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566928" y="3694176"/>
            <a:ext cx="2651760" cy="1024128"/>
          </a:xfrm>
          <a:prstGeom prst="rect">
            <a:avLst/>
          </a:prstGeom>
          <a:solidFill>
            <a:srgbClr val="EDF2E6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0" name="Text 18"/>
          <p:cNvSpPr/>
          <p:nvPr/>
        </p:nvSpPr>
        <p:spPr>
          <a:xfrm>
            <a:off x="749808" y="3694176"/>
            <a:ext cx="2331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 &amp; campaigns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218688" y="3694176"/>
            <a:ext cx="4224528" cy="1024128"/>
          </a:xfrm>
          <a:prstGeom prst="rect">
            <a:avLst/>
          </a:prstGeom>
          <a:solidFill>
            <a:srgbClr val="EDF2E6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2" name="Shape 20"/>
          <p:cNvSpPr/>
          <p:nvPr/>
        </p:nvSpPr>
        <p:spPr>
          <a:xfrm>
            <a:off x="3401568" y="3877056"/>
            <a:ext cx="146304" cy="146304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3" name="Text 21"/>
          <p:cNvSpPr/>
          <p:nvPr/>
        </p:nvSpPr>
        <p:spPr>
          <a:xfrm>
            <a:off x="3675888" y="3730752"/>
            <a:ext cx="3584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Modular, validated, brand-governed pipelines (I6, I9, I16)</a:t>
            </a:r>
            <a:endParaRPr lang="en-US" sz="1180" dirty="0"/>
          </a:p>
        </p:txBody>
      </p:sp>
      <p:sp>
        <p:nvSpPr>
          <p:cNvPr id="24" name="Shape 22"/>
          <p:cNvSpPr/>
          <p:nvPr/>
        </p:nvSpPr>
        <p:spPr>
          <a:xfrm>
            <a:off x="7443216" y="3694176"/>
            <a:ext cx="4224528" cy="1024128"/>
          </a:xfrm>
          <a:prstGeom prst="rect">
            <a:avLst/>
          </a:prstGeom>
          <a:solidFill>
            <a:srgbClr val="EDF2E6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5" name="Shape 23"/>
          <p:cNvSpPr/>
          <p:nvPr/>
        </p:nvSpPr>
        <p:spPr>
          <a:xfrm>
            <a:off x="7626096" y="3877056"/>
            <a:ext cx="146304" cy="146304"/>
          </a:xfrm>
          <a:prstGeom prst="ellipse">
            <a:avLst/>
          </a:prstGeom>
          <a:solidFill>
            <a:srgbClr val="A24B36"/>
          </a:solidFill>
          <a:ln w="12700">
            <a:solidFill>
              <a:srgbClr val="A24B36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6" name="Text 24"/>
          <p:cNvSpPr/>
          <p:nvPr/>
        </p:nvSpPr>
        <p:spPr>
          <a:xfrm>
            <a:off x="7900416" y="3730752"/>
            <a:ext cx="3584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quality and brand governance, damaging the brand (I15)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>
            <a:off x="566928" y="4718304"/>
            <a:ext cx="26517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8" name="Text 26"/>
          <p:cNvSpPr/>
          <p:nvPr/>
        </p:nvSpPr>
        <p:spPr>
          <a:xfrm>
            <a:off x="749808" y="4718304"/>
            <a:ext cx="2331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Customer-facing agents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3218688" y="4718304"/>
            <a:ext cx="42245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30" name="Shape 28"/>
          <p:cNvSpPr/>
          <p:nvPr/>
        </p:nvSpPr>
        <p:spPr>
          <a:xfrm>
            <a:off x="3401568" y="4901184"/>
            <a:ext cx="146304" cy="146304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31" name="Text 29"/>
          <p:cNvSpPr/>
          <p:nvPr/>
        </p:nvSpPr>
        <p:spPr>
          <a:xfrm>
            <a:off x="3675888" y="4754880"/>
            <a:ext cx="3584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deployed chatbot driving retention and upsell (I6)</a:t>
            </a:r>
            <a:endParaRPr lang="en-US" sz="1180" dirty="0"/>
          </a:p>
        </p:txBody>
      </p:sp>
      <p:sp>
        <p:nvSpPr>
          <p:cNvPr id="32" name="Shape 30"/>
          <p:cNvSpPr/>
          <p:nvPr/>
        </p:nvSpPr>
        <p:spPr>
          <a:xfrm>
            <a:off x="7443216" y="4718304"/>
            <a:ext cx="42245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33" name="Shape 31"/>
          <p:cNvSpPr/>
          <p:nvPr/>
        </p:nvSpPr>
        <p:spPr>
          <a:xfrm>
            <a:off x="7626096" y="4901184"/>
            <a:ext cx="146304" cy="146304"/>
          </a:xfrm>
          <a:prstGeom prst="ellipse">
            <a:avLst/>
          </a:prstGeom>
          <a:solidFill>
            <a:srgbClr val="A24B36"/>
          </a:solidFill>
          <a:ln w="12700">
            <a:solidFill>
              <a:srgbClr val="A24B36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34" name="Text 32"/>
          <p:cNvSpPr/>
          <p:nvPr/>
        </p:nvSpPr>
        <p:spPr>
          <a:xfrm>
            <a:off x="7900416" y="4754880"/>
            <a:ext cx="3584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Early, experimental, or withheld in a regulated sector (I15)</a:t>
            </a:r>
            <a:endParaRPr lang="en-US" sz="1180" dirty="0"/>
          </a:p>
        </p:txBody>
      </p:sp>
      <p:sp>
        <p:nvSpPr>
          <p:cNvPr id="35" name="Text 33"/>
          <p:cNvSpPr/>
          <p:nvPr/>
        </p:nvSpPr>
        <p:spPr>
          <a:xfrm>
            <a:off x="566928" y="580644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 </a:t>
            </a:r>
            <a:r>
              <a:rPr lang="en-US" sz="125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variance is best explained by the surrounding conditions a manager shapes, which makes navigating the context the core managerial work.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2 OF 4 · PARADOX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risk also supplies its own cure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50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of paradoxes runs throughout the data: the very technology that creates a risk also supplies the means to govern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40280"/>
            <a:ext cx="5358384" cy="315468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859536" y="2478024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risk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59536" y="30266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4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3282696"/>
            <a:ext cx="4791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produce off-brand, tonally wrong, or inauthentic content that customers “see through pretty quickly” (I15).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932688" y="4123944"/>
            <a:ext cx="274320" cy="274320"/>
          </a:xfrm>
          <a:prstGeom prst="downArrow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859536" y="4453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9536" y="4709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Brand-governance agents now score content against guidelines and personas, validating both AI and human output (I3, I16).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6281928" y="2240280"/>
            <a:ext cx="5358384" cy="315468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3" name="Text 11"/>
          <p:cNvSpPr/>
          <p:nvPr/>
        </p:nvSpPr>
        <p:spPr>
          <a:xfrm>
            <a:off x="6574536" y="2478024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74536" y="30266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4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74536" y="3282696"/>
            <a:ext cx="4791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return confident, incorrect answers, a frequently named risk for any analytical or content task.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6647688" y="4123944"/>
            <a:ext cx="274320" cy="274320"/>
          </a:xfrm>
          <a:prstGeom prst="downArrow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6574536" y="4453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74536" y="4709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Reframed as “a mediocre analyst you still sense-check” (I13): managed by review, the standard already used for human juniors.</a:t>
            </a:r>
            <a:endParaRPr lang="en-US" sz="1230" dirty="0"/>
          </a:p>
        </p:txBody>
      </p:sp>
      <p:sp>
        <p:nvSpPr>
          <p:cNvPr id="19" name="Text 17"/>
          <p:cNvSpPr/>
          <p:nvPr/>
        </p:nvSpPr>
        <p:spPr>
          <a:xfrm>
            <a:off x="566928" y="557784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 shifts:  </a:t>
            </a:r>
            <a:r>
              <a:rPr lang="en-US" sz="1350" i="1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“are you using AI?”, but “how are you using it?”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3 OF 4 · CAUTION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optics–reality gap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50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capability is often presented as operational well before it truly is, inflating expectations without anyone doubting the underlying value.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612648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B07F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PRESENTED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" y="261518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i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think we sometimes present something a certain way while we’re trying to actually make it that way in the background.” (I9)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65576" y="3712464"/>
            <a:ext cx="329184" cy="310896"/>
          </a:xfrm>
          <a:prstGeom prst="downArrow">
            <a:avLst/>
          </a:prstGeom>
          <a:solidFill>
            <a:srgbClr val="6C7A6F"/>
          </a:solidFill>
          <a:ln w="12700">
            <a:solidFill>
              <a:srgbClr val="6C7A6F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9" name="Shape 7"/>
          <p:cNvSpPr/>
          <p:nvPr/>
        </p:nvSpPr>
        <p:spPr>
          <a:xfrm>
            <a:off x="566928" y="4069080"/>
            <a:ext cx="6126480" cy="1481328"/>
          </a:xfrm>
          <a:prstGeom prst="roundRect">
            <a:avLst>
              <a:gd name="adj" fmla="val 4321"/>
            </a:avLst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  <a:effectLst>
            <a:outerShdw blurRad="114300" dist="38100" dir="5400000" algn="bl" rotWithShape="0">
              <a:srgbClr val="16241E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841248" y="423367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448970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i="1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 is being overpromised all the time. And we have to reduce expectations.” (I11). Capability still trails the story.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95160" y="2194560"/>
            <a:ext cx="4645152" cy="3355848"/>
          </a:xfrm>
          <a:prstGeom prst="roundRect">
            <a:avLst>
              <a:gd name="adj" fmla="val 1907"/>
            </a:avLst>
          </a:prstGeom>
          <a:solidFill>
            <a:srgbClr val="EDF2E6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3" name="Text 11"/>
          <p:cNvSpPr/>
          <p:nvPr/>
        </p:nvSpPr>
        <p:spPr>
          <a:xfrm>
            <a:off x="7287768" y="2395728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matters for managers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7306056" y="2916936"/>
            <a:ext cx="137160" cy="137160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5" name="Text 13"/>
          <p:cNvSpPr/>
          <p:nvPr/>
        </p:nvSpPr>
        <p:spPr>
          <a:xfrm>
            <a:off x="7562088" y="2816352"/>
            <a:ext cx="3776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Defensive adoption: </a:t>
            </a: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act to avoid being “left behind”, rather than to create novel value.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7306056" y="3575304"/>
            <a:ext cx="137160" cy="137160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7562088" y="3474720"/>
            <a:ext cx="3776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Vendor-led strategy: </a:t>
            </a: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follow their default supplier’s AI roadmap instead of doing the interpretive work themselves.</a:t>
            </a:r>
            <a:endParaRPr lang="en-US" sz="1180" dirty="0"/>
          </a:p>
        </p:txBody>
      </p:sp>
      <p:sp>
        <p:nvSpPr>
          <p:cNvPr id="18" name="Shape 16"/>
          <p:cNvSpPr/>
          <p:nvPr/>
        </p:nvSpPr>
        <p:spPr>
          <a:xfrm>
            <a:off x="7306056" y="4233672"/>
            <a:ext cx="137160" cy="137160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9" name="Text 17"/>
          <p:cNvSpPr/>
          <p:nvPr/>
        </p:nvSpPr>
        <p:spPr>
          <a:xfrm>
            <a:off x="7562088" y="4133088"/>
            <a:ext cx="3776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managerial skill: </a:t>
            </a: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real capability from its optics becomes part of the job.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7306056" y="4892040"/>
            <a:ext cx="137160" cy="137160"/>
          </a:xfrm>
          <a:prstGeom prst="ellipse">
            <a:avLst/>
          </a:prstGeom>
          <a:solidFill>
            <a:srgbClr val="76923C"/>
          </a:solidFill>
          <a:ln w="12700">
            <a:solidFill>
              <a:srgbClr val="76923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1" name="Text 19"/>
          <p:cNvSpPr/>
          <p:nvPr/>
        </p:nvSpPr>
        <p:spPr>
          <a:xfrm>
            <a:off x="7562088" y="4791456"/>
            <a:ext cx="3776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00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 caveat: </a:t>
            </a:r>
            <a:r>
              <a:rPr lang="en-US" sz="118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may overstate success, so claims need balancing evidence.</a:t>
            </a:r>
            <a:endParaRPr lang="en-US" sz="1180" dirty="0"/>
          </a:p>
        </p:txBody>
      </p:sp>
      <p:sp>
        <p:nvSpPr>
          <p:cNvPr id="22" name="Text 20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4 OF 4 · PARADOX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junior paradox &amp; the talent pipeline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50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extends what an individual can do, “whole armies of super interns” (I14), yet who that displaces is read two opposite ways.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4028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841248" y="245973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69748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Juniors become less relevant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41248" y="3209544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agentic AI you already have an army of capable juniors on tap, so fewer entry-level hands are needed for the work.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6281928" y="224028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6DFC9"/>
            </a:solidFill>
            <a:prstDash val="solid"/>
          </a:ln>
          <a:effectLst>
            <a:outerShdw blurRad="88900" dist="25400" dir="5400000" algn="bl" rotWithShape="0">
              <a:srgbClr val="16241E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6556248" y="245973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76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B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56248" y="269748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03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Seniors are at risk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556248" y="3209544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30" dirty="0">
                <a:solidFill>
                  <a:srgbClr val="334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junior with AI can do the same thing” for less, so the expensive senior role is the one under pressure (I7).</a:t>
            </a:r>
            <a:endParaRPr lang="en-US" sz="1230" dirty="0"/>
          </a:p>
        </p:txBody>
      </p:sp>
      <p:sp>
        <p:nvSpPr>
          <p:cNvPr id="13" name="Shape 11"/>
          <p:cNvSpPr/>
          <p:nvPr/>
        </p:nvSpPr>
        <p:spPr>
          <a:xfrm>
            <a:off x="3017520" y="4078224"/>
            <a:ext cx="274320" cy="310896"/>
          </a:xfrm>
          <a:prstGeom prst="downArrow">
            <a:avLst/>
          </a:prstGeom>
          <a:solidFill>
            <a:srgbClr val="A24B36"/>
          </a:solidFill>
          <a:ln w="12700">
            <a:solidFill>
              <a:srgbClr val="A24B36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Shape 12"/>
          <p:cNvSpPr/>
          <p:nvPr/>
        </p:nvSpPr>
        <p:spPr>
          <a:xfrm>
            <a:off x="8915400" y="4078224"/>
            <a:ext cx="274320" cy="310896"/>
          </a:xfrm>
          <a:prstGeom prst="downArrow">
            <a:avLst/>
          </a:prstGeom>
          <a:solidFill>
            <a:srgbClr val="A24B36"/>
          </a:solidFill>
          <a:ln w="12700">
            <a:solidFill>
              <a:srgbClr val="A24B36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5" name="Shape 13"/>
          <p:cNvSpPr/>
          <p:nvPr/>
        </p:nvSpPr>
        <p:spPr>
          <a:xfrm>
            <a:off x="566928" y="4480560"/>
            <a:ext cx="11057839" cy="1371600"/>
          </a:xfrm>
          <a:prstGeom prst="roundRect">
            <a:avLst>
              <a:gd name="adj" fmla="val 4667"/>
            </a:avLst>
          </a:prstGeom>
          <a:solidFill>
            <a:srgbClr val="00312A"/>
          </a:solidFill>
          <a:ln w="12700">
            <a:solidFill>
              <a:srgbClr val="00312A"/>
            </a:solidFill>
            <a:prstDash val="solid"/>
          </a:ln>
          <a:effectLst>
            <a:outerShdw blurRad="114300" dist="38100" dir="5400000" algn="bl" rotWithShape="0">
              <a:srgbClr val="16241E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6" name="Text 14"/>
          <p:cNvSpPr/>
          <p:nvPr/>
        </p:nvSpPr>
        <p:spPr>
          <a:xfrm>
            <a:off x="88696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RISK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86968" y="4937760"/>
            <a:ext cx="104177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“You no longer develop juniors into seniors … a major risk: no new talent pipeline.” (I10)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86968" y="5394960"/>
            <a:ext cx="10417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augments individuals today, but may erode the pipeline that produces tomorrow’s experts.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4864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FC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takes to create value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58384" cy="1591056"/>
          </a:xfrm>
          <a:prstGeom prst="roundRect">
            <a:avLst>
              <a:gd name="adj" fmla="val 4023"/>
            </a:avLst>
          </a:prstGeom>
          <a:solidFill>
            <a:srgbClr val="06453A"/>
          </a:solidFill>
          <a:ln w="12700">
            <a:solidFill>
              <a:srgbClr val="1C675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841248" y="19842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27048" y="200253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 is a managerial accomplishment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41248" y="2532888"/>
            <a:ext cx="48097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produced by observing conditions, navigating the context, applying agentic AI, and obtaining outcomes, not by the tool alone.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1928" y="1783080"/>
            <a:ext cx="5358384" cy="1591056"/>
          </a:xfrm>
          <a:prstGeom prst="roundRect">
            <a:avLst>
              <a:gd name="adj" fmla="val 4023"/>
            </a:avLst>
          </a:prstGeom>
          <a:solidFill>
            <a:srgbClr val="06453A"/>
          </a:solidFill>
          <a:ln w="12700">
            <a:solidFill>
              <a:srgbClr val="1C675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9" name="Text 7"/>
          <p:cNvSpPr/>
          <p:nvPr/>
        </p:nvSpPr>
        <p:spPr>
          <a:xfrm>
            <a:off x="6556248" y="19842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242048" y="200253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organizational context decides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556248" y="2532888"/>
            <a:ext cx="48097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data, direction, and compliance shape outcomes more than the technology, so identical use cases diverge sharply across firms.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520440"/>
            <a:ext cx="5358384" cy="1591056"/>
          </a:xfrm>
          <a:prstGeom prst="roundRect">
            <a:avLst>
              <a:gd name="adj" fmla="val 4023"/>
            </a:avLst>
          </a:prstGeom>
          <a:solidFill>
            <a:srgbClr val="06453A"/>
          </a:solidFill>
          <a:ln w="12700">
            <a:solidFill>
              <a:srgbClr val="1C675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Text 11"/>
          <p:cNvSpPr/>
          <p:nvPr/>
        </p:nvSpPr>
        <p:spPr>
          <a:xfrm>
            <a:off x="841248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27048" y="373989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Paradox runs throughout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41248" y="4270248"/>
            <a:ext cx="48097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 that creates a risk also supplies the means to govern it; the question is how you use AI, not whether.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520440"/>
            <a:ext cx="5358384" cy="1591056"/>
          </a:xfrm>
          <a:prstGeom prst="roundRect">
            <a:avLst>
              <a:gd name="adj" fmla="val 4023"/>
            </a:avLst>
          </a:prstGeom>
          <a:solidFill>
            <a:srgbClr val="06453A"/>
          </a:solidFill>
          <a:ln w="12700">
            <a:solidFill>
              <a:srgbClr val="1C675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6556248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FC4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42048" y="373989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practical first move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556248" y="4270248"/>
            <a:ext cx="48097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D7E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compliant “laboratory” for safe experimentation, and make marketing and technology leaders genuine partners.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61722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Daan Luttik</a:t>
            </a:r>
            <a:r>
              <a:rPr lang="en-US" sz="1300" i="1" dirty="0">
                <a:solidFill>
                  <a:srgbClr val="8FA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How do marketing managers create value with agentic AI?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2037</Words>
  <Application>Microsoft Office PowerPoint</Application>
  <PresentationFormat>Widescreen</PresentationFormat>
  <Paragraphs>248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Creating Value with Agentic AI in Marketing</dc:title>
  <dc:subject>PptxGenJS Presentation</dc:subject>
  <dc:creator>Daan Luttik</dc:creator>
  <cp:lastModifiedBy>Luttik, Daan</cp:lastModifiedBy>
  <cp:revision>2</cp:revision>
  <dcterms:created xsi:type="dcterms:W3CDTF">2026-06-21T17:58:47Z</dcterms:created>
  <dcterms:modified xsi:type="dcterms:W3CDTF">2026-06-21T19:29:14Z</dcterms:modified>
</cp:coreProperties>
</file>