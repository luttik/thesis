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73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spc="250" kern="0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MBA THESIS  ·  NYENRODE BUSINESS UNIVERSITEIT  ·  2026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187452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Creating Value with</a:t>
            </a:r>
            <a:endParaRPr lang="en-US" sz="5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Agentic AI in Marketing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66928" y="400507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view from marketing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" y="4754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Daan Luttik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519379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B0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Supervisor: S. (Stefanie) Beninger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30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study agentic AI in marketing?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57839" cy="1298448"/>
          </a:xfrm>
          <a:prstGeom prst="roundRect">
            <a:avLst>
              <a:gd name="adj" fmla="val 4930"/>
            </a:avLst>
          </a:prstGeom>
          <a:solidFill>
            <a:srgbClr val="EAF1F6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700784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$4.4T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898648" y="1700784"/>
            <a:ext cx="845179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Estimated annual productivity upside from generative AI, and marketing &amp; sales is its single largest slice, about one third (Mayer et al., 2025).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10966399" cy="3291840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300" b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Yet AI in marketing is still mostly a question-and-answer machine.  </a:t>
            </a:r>
            <a:pPr indent="0" marL="0">
              <a:lnSpc>
                <a:spcPct val="115000"/>
              </a:lnSpc>
              <a:spcAft>
                <a:spcPts val="1800"/>
              </a:spcAft>
              <a:buNone/>
            </a:pPr>
            <a:r>
              <a:rPr lang="en-US" sz="13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for brainstorming and content generation, rather than doing the everyday work itself (Brinker &amp; Riemersma, 2025).</a:t>
            </a:r>
            <a:endParaRPr lang="en-US" sz="1300" dirty="0"/>
          </a:p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300" b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Agentic AI changes the premise.  </a:t>
            </a:r>
            <a:pPr indent="0" marL="0">
              <a:lnSpc>
                <a:spcPct val="115000"/>
              </a:lnSpc>
              <a:spcAft>
                <a:spcPts val="1800"/>
              </a:spcAft>
              <a:buNone/>
            </a:pPr>
            <a:r>
              <a:rPr lang="en-US" sz="13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can act and take steps in pursuit of a goal across complex, multi-step tasks (Moralles et al., 2026).</a:t>
            </a:r>
            <a:endParaRPr lang="en-US" sz="1300" dirty="0"/>
          </a:p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300" b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managers turn that promise into value is largely unexplored.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Scholars issue explicit calls for firm-level evidence on agentic AI in marketing (Kim, 2025).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spc="400" kern="0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do marketing managers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 value with agentic AI?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66928" y="3063240"/>
            <a:ext cx="11057839" cy="0"/>
          </a:xfrm>
          <a:prstGeom prst="line">
            <a:avLst/>
          </a:prstGeom>
          <a:noFill/>
          <a:ln w="12700">
            <a:solidFill>
              <a:srgbClr val="1A4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461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200" kern="0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GUIDED BY THREE SUB-QUESTIONS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3703320"/>
            <a:ext cx="11057839" cy="731520"/>
          </a:xfrm>
          <a:prstGeom prst="roundRect">
            <a:avLst>
              <a:gd name="adj" fmla="val 8750"/>
            </a:avLst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7033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44168" y="3703320"/>
            <a:ext cx="10051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do marketing managers identify and translate agentic AI opportunities?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4572000"/>
            <a:ext cx="11057839" cy="731520"/>
          </a:xfrm>
          <a:prstGeom prst="roundRect">
            <a:avLst>
              <a:gd name="adj" fmla="val 8750"/>
            </a:avLst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5720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44168" y="4572000"/>
            <a:ext cx="10051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do marketing managers adopt agentic AI within their organizations?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5440680"/>
            <a:ext cx="11057839" cy="731520"/>
          </a:xfrm>
          <a:prstGeom prst="roundRect">
            <a:avLst>
              <a:gd name="adj" fmla="val 8750"/>
            </a:avLst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5440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44168" y="5440680"/>
            <a:ext cx="10051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do marketing managers manage the benefits, sacrifices, and risks?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99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99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30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WE BUILD 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Four streams of literature frame the study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58384" cy="2249424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08176" y="1847088"/>
            <a:ext cx="4306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agentic AI 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4809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the Transformer and LLMs to retrieval (RAG), the reason-and-act loop, and tool calling, AI gained the ability to act. Agentic AI combines autonomy, goal-directedness, adaptivity, and proactivity.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218688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Vaswani et al., 2017 · Yao et al., 2023 · Hughes et al., 2025 · Moralles et al.,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81928" y="1627632"/>
            <a:ext cx="5358384" cy="2249424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23176" y="1847088"/>
            <a:ext cx="4306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in marketing, and the gap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95728"/>
            <a:ext cx="4809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GenAI already drafts copy, generates imagery, and synthesizes insight, but empirical work on agentic, goal-pursuing use beyond content is scarce. Scholars call for research.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56248" y="3218688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Wahid et al., 2023 · Grewal et al., 2025 · Kim, 2025 · Mogaji &amp; Jain, 2024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4005072"/>
            <a:ext cx="5358384" cy="2249424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206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08176" y="4224528"/>
            <a:ext cx="4306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Lessons from digital transformation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" y="4773168"/>
            <a:ext cx="4809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value is mediated by complementary assets and organizational readiness, not the tool alone, hence the digitalization paradox and process debt.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5596128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Enholm et al., 2022 · Holmström, 2022 · Fernandez-Vidal et al., 2022 · Gebauer et al., 2020 · Srivastava, 2026 · Schmidt et al., 2026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81928" y="4005072"/>
            <a:ext cx="5358384" cy="2249424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4206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23176" y="4224528"/>
            <a:ext cx="4306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counts as value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56248" y="4773168"/>
            <a:ext cx="4809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 is multidimensional: the perceived benefits minus the perceived costs, spanning functional, emotional, and strategic gains, and it can be destroyed as well as created.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56248" y="5596128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Woodside et al., 2008 · Almquist et al., 2016 · Doshi &amp; Hauser, 2024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30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Constructivist grounded theory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5778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10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BC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267712"/>
            <a:ext cx="5029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Constructivist grounded theory (Charmaz, 2006; 2014): a qualitative, inductive approach where theory emerges from participants’ experiences and meanings rather than testing a pre-formed hypothesis. The researcher iterates between interviewing, memo-writing, and coding until theoretical saturation.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627632"/>
            <a:ext cx="5330952" cy="2148840"/>
          </a:xfrm>
          <a:prstGeom prst="roundRect">
            <a:avLst>
              <a:gd name="adj" fmla="val 2979"/>
            </a:avLst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  <a:effectLst>
            <a:outerShdw sx="100000" sy="100000" kx="0" ky="0" algn="bl" rotWithShape="0" blurRad="114300" dist="38100" dir="5400000">
              <a:srgbClr val="16273D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00784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17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8321040" y="1828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semi-structured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in-depth interviews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3977640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4361688"/>
            <a:ext cx="164592" cy="164592"/>
          </a:xfrm>
          <a:prstGeom prst="ellipse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41422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Marketing managers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3856" y="4471416"/>
            <a:ext cx="102348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CMOs, marketing managers, and team leads responsible for or driving AI adoption in the marketing function.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5020056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404104"/>
            <a:ext cx="164592" cy="164592"/>
          </a:xfrm>
          <a:prstGeom prst="ellipse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5184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&amp; technology experts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3856" y="5513832"/>
            <a:ext cx="102348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Technical leaders and consultants with expertise in implementing and deploying AI in commercial contexts.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June 2025 – March 2026  ·  Primarily Netherlands-based  ·  Theoretical saturation reached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30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process model of managerial value creation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2461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0A1929"/>
            </a:solidFill>
            <a:prstDash val="solid"/>
          </a:ln>
          <a:effectLst>
            <a:outerShdw sx="100000" sy="100000" kx="0" ky="0" algn="bl" rotWithShape="0" blurRad="114300" dist="38100" dir="5400000">
              <a:srgbClr val="1627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947672"/>
            <a:ext cx="64008" cy="1362456"/>
          </a:xfrm>
          <a:prstGeom prst="rect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93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Observing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external conditions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249631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progression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pressure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3703320"/>
            <a:ext cx="324612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0A1929"/>
            </a:solidFill>
            <a:prstDash val="solid"/>
          </a:ln>
          <a:effectLst>
            <a:outerShdw sx="100000" sy="100000" kx="0" ky="0" algn="bl" rotWithShape="0" blurRad="114300" dist="38100" dir="5400000">
              <a:srgbClr val="16273D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3867912"/>
            <a:ext cx="64008" cy="1755648"/>
          </a:xfrm>
          <a:prstGeom prst="rect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496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Navigating the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organizational context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41248" y="4416552"/>
            <a:ext cx="2788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Steering the marketing department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Leveraging technical resources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Dealing with compliance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2240280"/>
            <a:ext cx="361188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0A1929"/>
            </a:solidFill>
            <a:prstDash val="solid"/>
          </a:ln>
          <a:effectLst>
            <a:outerShdw sx="100000" sy="100000" kx="0" ky="0" algn="bl" rotWithShape="0" blurRad="114300" dist="38100" dir="5400000">
              <a:srgbClr val="16273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404872"/>
            <a:ext cx="64008" cy="2734056"/>
          </a:xfrm>
          <a:prstGeom prst="rect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23865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Applying agentic AI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92040" y="2953512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Generating insights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and validating content and campaigns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Utilizing generic agents for personal work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Employing customer-facing agents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32520" y="2743200"/>
            <a:ext cx="2907792" cy="2057400"/>
          </a:xfrm>
          <a:prstGeom prst="roundRect">
            <a:avLst>
              <a:gd name="adj" fmla="val 3111"/>
            </a:avLst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  <a:effectLst>
            <a:outerShdw sx="100000" sy="100000" kx="0" ky="0" algn="bl" rotWithShape="0" blurRad="114300" dist="38100" dir="5400000">
              <a:srgbClr val="16273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06840" y="2926080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Obtaining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value outcomes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25128" y="3703320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Benefits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Sacrifices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58768" y="2478024"/>
            <a:ext cx="658368" cy="292608"/>
          </a:xfrm>
          <a:prstGeom prst="rightArrow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58768" y="4599432"/>
            <a:ext cx="658368" cy="292608"/>
          </a:xfrm>
          <a:prstGeom prst="rightArrow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3621024"/>
            <a:ext cx="393192" cy="292608"/>
          </a:xfrm>
          <a:prstGeom prst="rightArrow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9893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Figure 1.  Bold arrows describe managerial behaviors; boxes represent the concepts acted upon.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25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 ·  STEP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Observing external conditions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 </a:t>
            </a:r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07208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74136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4136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Navigate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14416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1344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21624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88552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88552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Obtain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21031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6B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 and interpreting the organization’s changing context: sensing the impetus to change before deciding how to respond.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2788920"/>
            <a:ext cx="5358384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008376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BC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progression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3538728"/>
            <a:ext cx="4828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moves in a “hockey stick”: capabilities and adoption rise faster than teams can track.</a:t>
            </a:r>
            <a:endParaRPr lang="en-US" sz="123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managers stop chasing every model and lean on their default vendor’s AI roadmap as a safe haven.</a:t>
            </a:r>
            <a:endParaRPr lang="en-US" sz="123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recurring trap: capability is presented as operational before it truly is.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841248" y="4736592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“We’re living in an era of change, and a change of era simultaneously.”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Interviewee 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81928" y="2788920"/>
            <a:ext cx="5358384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56248" y="3008376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BC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Market pressure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56248" y="3538728"/>
            <a:ext cx="4828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Competitive pressure is mostly defensive: act so as not to be “left behind”, reaching parity rather than novel value.</a:t>
            </a:r>
            <a:endParaRPr lang="en-US" sz="123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behavior is shifting: search moves into AI, and “agents of consumers” emerge as a new intermediary.</a:t>
            </a:r>
            <a:endParaRPr lang="en-US" sz="123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Anticipated agentic commerce already drives early, forward-looking investments.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6556248" y="4736592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“Almost everyone’s been very positive about it because they want to not be left behind.”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Interviewee 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25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 ·  STEP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Navigating the organizational context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07208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74136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4136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 </a:t>
            </a:r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Navigate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14416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1344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21624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88552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88552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Obtain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208483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6B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Steering or working around the internal conditions that enable or constrain agentic AI. The decisive factor is the context, not the technology.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49640" y="1993392"/>
            <a:ext cx="3090672" cy="868680"/>
          </a:xfrm>
          <a:prstGeom prst="roundRect">
            <a:avLst>
              <a:gd name="adj" fmla="val 7368"/>
            </a:avLst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  <a:effectLst>
            <a:outerShdw sx="100000" sy="100000" kx="0" ky="0" algn="bl" rotWithShape="0" blurRad="114300" dist="38100" dir="5400000">
              <a:srgbClr val="16273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78240" y="19933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60–70%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people &amp; organization</a:t>
            </a:r>
            <a:pPr indent="0" marL="0">
              <a:lnSpc>
                <a:spcPct val="115000"/>
              </a:lnSpc>
              <a:buNone/>
            </a:pP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~30% technology  (Interviewee 14)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3063240"/>
            <a:ext cx="3529584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" y="3282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BC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Steering the marketing department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3813048"/>
            <a:ext cx="29992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Bringing people along to ease resistance</a:t>
            </a:r>
            <a:endParaRPr lang="en-US" sz="123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Stimulating experimentation, “the laboratory”</a:t>
            </a:r>
            <a:endParaRPr lang="en-US" sz="123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Setting direction; backed by AI champions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4334256" y="3063240"/>
            <a:ext cx="3529584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08576" y="3282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BC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Leveraging technical resources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08576" y="3813048"/>
            <a:ext cx="29992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Data, infrastructure, tooling, and talent</a:t>
            </a:r>
            <a:endParaRPr lang="en-US" sz="123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Often owned by other teams, not marketing</a:t>
            </a:r>
            <a:endParaRPr lang="en-US" sz="123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“The CMO should be the CTO’s best friend”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8101584" y="3063240"/>
            <a:ext cx="3529584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75904" y="3282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BC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Dealing with compliance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75904" y="3813048"/>
            <a:ext cx="29992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Accepted as-is; rarely negotiated</a:t>
            </a:r>
            <a:endParaRPr lang="en-US" sz="123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Often the single biggest inhibitor of adoption</a:t>
            </a:r>
            <a:endParaRPr lang="en-US" sz="123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Workarounds and shadow IT fill the gap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25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 ·  STEP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Applying agentic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07208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74136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4136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Navigate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14416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1344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 </a:t>
            </a:r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21624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88552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88552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Obtain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21031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6B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Putting agentic AI to work through concrete use cases inside the marketing function.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2606040"/>
            <a:ext cx="5358384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2843784"/>
            <a:ext cx="457200" cy="457200"/>
          </a:xfrm>
          <a:prstGeom prst="ellipse">
            <a:avLst/>
          </a:prstGeom>
          <a:solidFill>
            <a:srgbClr val="EAF1F6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7BC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08176" y="2807208"/>
            <a:ext cx="4306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Generating insights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08176" y="3355848"/>
            <a:ext cx="4306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 at scale across structured and unstructured, internal and public data. Value hinges on data connectivity: connected sources turn week-long reporting into minutes.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81928" y="2606040"/>
            <a:ext cx="5358384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2843784"/>
            <a:ext cx="457200" cy="457200"/>
          </a:xfrm>
          <a:prstGeom prst="ellipse">
            <a:avLst/>
          </a:prstGeom>
          <a:solidFill>
            <a:srgbClr val="EAF1F6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7BC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23176" y="2807208"/>
            <a:ext cx="4306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Creating &amp; validating content and campaigns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23176" y="3355848"/>
            <a:ext cx="4306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pipelines from ideation to segmentation, targeting, and validation. Strong on standardized scale, still weak on brand-led creative.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370832"/>
            <a:ext cx="5358384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4608576"/>
            <a:ext cx="457200" cy="457200"/>
          </a:xfrm>
          <a:prstGeom prst="ellipse">
            <a:avLst/>
          </a:prstGeom>
          <a:solidFill>
            <a:srgbClr val="EAF1F6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7BC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08176" y="4572000"/>
            <a:ext cx="4306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Utilizing generic agents for personal work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08176" y="5120640"/>
            <a:ext cx="4306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Off-the-shelf agents configured as a “personal operating system”, plus no-code process automation (e.g. Make, n8n) that can replace manual steps.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81928" y="4370832"/>
            <a:ext cx="5358384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37960" y="4608576"/>
            <a:ext cx="457200" cy="457200"/>
          </a:xfrm>
          <a:prstGeom prst="ellipse">
            <a:avLst/>
          </a:prstGeom>
          <a:solidFill>
            <a:srgbClr val="EAF1F6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7BC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23176" y="4572000"/>
            <a:ext cx="4306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Employing customer-facing agents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23176" y="5120640"/>
            <a:ext cx="4306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Agentic chatbots that act, not just answer, driving retention and upsell, plus an emerging move to support the customer’s own agents.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25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 ·  STEP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Obtaining value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07208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74136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4136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Navigate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14416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1344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 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21624" y="1645920"/>
            <a:ext cx="566928" cy="0"/>
          </a:xfrm>
          <a:prstGeom prst="line">
            <a:avLst/>
          </a:prstGeom>
          <a:noFill/>
          <a:ln w="19050">
            <a:solidFill>
              <a:srgbClr val="C5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88552" y="14173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88552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 </a:t>
            </a:r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Obtain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21031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6B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Reading the result through value theory: value is the balance of benefits against costs (Woodside et al., 2008).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2788920"/>
            <a:ext cx="3529584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081528"/>
            <a:ext cx="182880" cy="18288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297180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66BB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Benefits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" y="3502152"/>
            <a:ext cx="2999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Efficiency: the largest, most consistent gain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Scalability: “armies of super interns”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Extension of the personal skillset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of 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34256" y="2788920"/>
            <a:ext cx="3529584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3081528"/>
            <a:ext cx="182880" cy="182880"/>
          </a:xfrm>
          <a:prstGeom prst="ellipse">
            <a:avLst/>
          </a:prstGeom>
          <a:solidFill>
            <a:srgbClr val="B07F25"/>
          </a:solidFill>
          <a:ln w="12700">
            <a:solidFill>
              <a:srgbClr val="B07F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97180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07F2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Sacrifices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08576" y="3502152"/>
            <a:ext cx="2999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i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Likely to materialize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cost: “AI is also very expensive”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 displacement and role change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1584" y="2788920"/>
            <a:ext cx="3529584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75904" y="3081528"/>
            <a:ext cx="182880" cy="182880"/>
          </a:xfrm>
          <a:prstGeom prst="ellipse">
            <a:avLst/>
          </a:prstGeom>
          <a:solidFill>
            <a:srgbClr val="A24B36"/>
          </a:solidFill>
          <a:ln w="12700">
            <a:solidFill>
              <a:srgbClr val="A24B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0224" y="297180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A24B3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75904" y="3502152"/>
            <a:ext cx="2999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i="1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Uncertain, often manageable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Hallucinations: “sense-check a mediocre analyst”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&amp; privacy violations</a:t>
            </a:r>
            <a:endParaRPr lang="en-US" sz="1200" dirty="0"/>
          </a:p>
          <a:p>
            <a:pPr marL="165100" indent="-1651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Negative brand impact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559552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EAF1F6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1248" y="5559552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twist: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very same use case proved transformative in one firm and stalled in another, with outcomes highly uneven.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30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 1 OF 4 · DIVERGENT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 beats technology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6B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Identical use cases produced very different outcomes across firms. The deciding factor was the organizational context and managerial behavior, not the use case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2651760" cy="4572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case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18688" y="2212848"/>
            <a:ext cx="4224528" cy="4572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212848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it created value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43216" y="2212848"/>
            <a:ext cx="4224528" cy="4572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6096" y="2212848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A99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it fell short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670048"/>
            <a:ext cx="26517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70048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Self-service analytics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218688" y="2670048"/>
            <a:ext cx="422452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2852928"/>
            <a:ext cx="146304" cy="146304"/>
          </a:xfrm>
          <a:prstGeom prst="ellipse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2706624"/>
            <a:ext cx="3584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sources connected directly to the agent; reporting answered in minutes (I15, I4)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443216" y="2670048"/>
            <a:ext cx="422452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6096" y="2852928"/>
            <a:ext cx="146304" cy="146304"/>
          </a:xfrm>
          <a:prstGeom prst="ellipse">
            <a:avLst/>
          </a:prstGeom>
          <a:solidFill>
            <a:srgbClr val="A24B36"/>
          </a:solidFill>
          <a:ln w="12700">
            <a:solidFill>
              <a:srgbClr val="A24B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0416" y="2706624"/>
            <a:ext cx="3584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data infrastructure or integration, forcing manual workarounds (I3)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66928" y="3694176"/>
            <a:ext cx="2651760" cy="1024128"/>
          </a:xfrm>
          <a:prstGeom prst="rect">
            <a:avLst/>
          </a:prstGeom>
          <a:solidFill>
            <a:srgbClr val="EAF1F6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694176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Content &amp; campaigns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218688" y="3694176"/>
            <a:ext cx="4224528" cy="1024128"/>
          </a:xfrm>
          <a:prstGeom prst="rect">
            <a:avLst/>
          </a:prstGeom>
          <a:solidFill>
            <a:srgbClr val="EAF1F6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3877056"/>
            <a:ext cx="146304" cy="146304"/>
          </a:xfrm>
          <a:prstGeom prst="ellipse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3730752"/>
            <a:ext cx="3584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Modular, validated, brand-governed pipelines (I6, I9, I16)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7443216" y="3694176"/>
            <a:ext cx="4224528" cy="1024128"/>
          </a:xfrm>
          <a:prstGeom prst="rect">
            <a:avLst/>
          </a:prstGeom>
          <a:solidFill>
            <a:srgbClr val="EAF1F6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6096" y="3877056"/>
            <a:ext cx="146304" cy="146304"/>
          </a:xfrm>
          <a:prstGeom prst="ellipse">
            <a:avLst/>
          </a:prstGeom>
          <a:solidFill>
            <a:srgbClr val="A24B36"/>
          </a:solidFill>
          <a:ln w="12700">
            <a:solidFill>
              <a:srgbClr val="A24B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3730752"/>
            <a:ext cx="3584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quality and brand governance, damaging the brand (I15)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566928" y="4718304"/>
            <a:ext cx="26517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718304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Customer-facing agents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218688" y="4718304"/>
            <a:ext cx="422452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01568" y="4901184"/>
            <a:ext cx="146304" cy="146304"/>
          </a:xfrm>
          <a:prstGeom prst="ellipse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75888" y="4754880"/>
            <a:ext cx="3584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deployed chatbot driving retention and upsell (I6)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7443216" y="4718304"/>
            <a:ext cx="422452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26096" y="4901184"/>
            <a:ext cx="146304" cy="146304"/>
          </a:xfrm>
          <a:prstGeom prst="ellipse">
            <a:avLst/>
          </a:prstGeom>
          <a:solidFill>
            <a:srgbClr val="A24B36"/>
          </a:solidFill>
          <a:ln w="12700">
            <a:solidFill>
              <a:srgbClr val="A24B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0416" y="4754880"/>
            <a:ext cx="3584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Early, experimental, or withheld in a regulated sector (I15)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566928" y="58064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Implication: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 variance is best explained by the surrounding conditions a manager shapes, which makes navigating the context the core managerial work.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30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 2 OF 4 · PARADOX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risk also supplies its own cure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6B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pattern of paradoxes runs throughout the data: the very technology that creates a risk also supplies the means to govern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5358384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478024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Brand risk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9536" y="3026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150" kern="0" dirty="0">
                <a:solidFill>
                  <a:srgbClr val="A24B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3282696"/>
            <a:ext cx="4791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Agents can produce off-brand, tonally wrong, or inauthentic content that customers “see through pretty quickly” (I15).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932688" y="4123944"/>
            <a:ext cx="274320" cy="274320"/>
          </a:xfrm>
          <a:prstGeom prst="downArrow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453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15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GOVERNANCE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470916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Brand-governance agents now score content against guidelines and personas, validating both AI and human output (I3, I16).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281928" y="2240280"/>
            <a:ext cx="5358384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74536" y="2478024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Hallucination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74536" y="3026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150" kern="0" dirty="0">
                <a:solidFill>
                  <a:srgbClr val="A24B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74536" y="3282696"/>
            <a:ext cx="4791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can return confident, incorrect answers, a frequently named risk for any analytical or content task.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647688" y="4123944"/>
            <a:ext cx="274320" cy="274320"/>
          </a:xfrm>
          <a:prstGeom prst="downArrow">
            <a:avLst/>
          </a:prstGeom>
          <a:solidFill>
            <a:srgbClr val="007BCD"/>
          </a:solidFill>
          <a:ln w="12700">
            <a:solidFill>
              <a:srgbClr val="007B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4536" y="4453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15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GOVERNANCE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74536" y="470916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Reframed as “a mediocre analyst you still sense-check” (I13): managed by review, the standard already used for human juniors.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566928" y="557784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 the question shifts:  </a:t>
            </a:r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“are you using AI?”, but “how are you using it?”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30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 3 OF 4 · CAUTION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optics–reality gap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6B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Agentic capability is often presented as operational well before it truly is, inflating expectations without anyone doubting the underlying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61264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3591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150" kern="0" dirty="0">
                <a:solidFill>
                  <a:srgbClr val="B07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PRESENTED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615184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“I think we sometimes present something a certain way while we’re trying to actually make it that way in the background.” (I9)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65576" y="3712464"/>
            <a:ext cx="329184" cy="310896"/>
          </a:xfrm>
          <a:prstGeom prst="downArrow">
            <a:avLst/>
          </a:prstGeom>
          <a:solidFill>
            <a:srgbClr val="6E8798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4069080"/>
            <a:ext cx="6126480" cy="1481328"/>
          </a:xfrm>
          <a:prstGeom prst="roundRect">
            <a:avLst>
              <a:gd name="adj" fmla="val 4321"/>
            </a:avLst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  <a:effectLst>
            <a:outerShdw sx="100000" sy="100000" kx="0" ky="0" algn="bl" rotWithShape="0" blurRad="114300" dist="38100" dir="5400000">
              <a:srgbClr val="16273D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42336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150" kern="0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REAL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4489704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“AI is being overpromised all the time. And we have to reduce expectations.” (I11). Capability still trails the story.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95160" y="2194560"/>
            <a:ext cx="4645152" cy="3355848"/>
          </a:xfrm>
          <a:prstGeom prst="roundRect">
            <a:avLst>
              <a:gd name="adj" fmla="val 1907"/>
            </a:avLst>
          </a:prstGeom>
          <a:solidFill>
            <a:srgbClr val="EAF1F6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87768" y="239572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it matters for managers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287768" y="2816352"/>
            <a:ext cx="409651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180" b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Defensive adoption: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8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Managers act to avoid being “left behind”, rather than to create novel value.</a:t>
            </a:r>
            <a:endParaRPr lang="en-US" sz="118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180" b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Vendor-led strategy: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8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follow their default supplier’s AI roadmap instead of doing the interpretive work themselves.</a:t>
            </a:r>
            <a:endParaRPr lang="en-US" sz="118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180" b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managerial skill: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8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Separating real capability from its optics becomes part of the job.</a:t>
            </a:r>
            <a:endParaRPr lang="en-US" sz="118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180" b="1" dirty="0">
                <a:solidFill>
                  <a:srgbClr val="0A19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research caveat: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Participants may overstate success, so claims need balancing evidence.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30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 4 OF 4 · PARADOX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junior paradox &amp; the talent pipeline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6B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Agentic AI extends what an individual can do, “whole armies of super interns” (I14), yet who that displaces is read two opposite ways.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5358384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459736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READING 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Juniors become less relevant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48" y="3209544"/>
            <a:ext cx="4809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agentic AI you already have an army of capable juniors on tap, so fewer entry-level hands are needed for the work.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81928" y="2240280"/>
            <a:ext cx="5358384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88900" dist="25400" dir="5400000">
              <a:srgbClr val="16273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56248" y="2459736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007B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READING 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56248" y="26974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0A192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Seniors are at risk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3209544"/>
            <a:ext cx="4809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3D5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“A junior with AI can do the same thing” for less, so the expensive senior role is the one under pressure (I7).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3017520" y="4078224"/>
            <a:ext cx="274320" cy="310896"/>
          </a:xfrm>
          <a:prstGeom prst="downArrow">
            <a:avLst/>
          </a:prstGeom>
          <a:solidFill>
            <a:srgbClr val="A24B36"/>
          </a:solidFill>
          <a:ln w="12700">
            <a:solidFill>
              <a:srgbClr val="A24B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15400" y="4078224"/>
            <a:ext cx="274320" cy="310896"/>
          </a:xfrm>
          <a:prstGeom prst="downArrow">
            <a:avLst/>
          </a:prstGeom>
          <a:solidFill>
            <a:srgbClr val="A24B36"/>
          </a:solidFill>
          <a:ln w="12700">
            <a:solidFill>
              <a:srgbClr val="A24B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480560"/>
            <a:ext cx="11057839" cy="1371600"/>
          </a:xfrm>
          <a:prstGeom prst="roundRect">
            <a:avLst>
              <a:gd name="adj" fmla="val 4667"/>
            </a:avLst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  <a:effectLst>
            <a:outerShdw sx="100000" sy="100000" kx="0" ky="0" algn="bl" rotWithShape="0" blurRad="114300" dist="38100" dir="5400000">
              <a:srgbClr val="16273D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DEEPER RISK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4937760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“You no longer develop juniors into seniors … a major risk: no new talent pipeline.” (I10)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6968" y="5394960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augments individuals today, but may erode the pipeline that produces tomorrow’s experts.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Value with Agentic AI in Marketing   ·   Daan Luttik, MBA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87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spc="400" kern="0" dirty="0">
                <a:solidFill>
                  <a:srgbClr val="90C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SUM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it takes to create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58384" cy="1591056"/>
          </a:xfrm>
          <a:prstGeom prst="roundRect">
            <a:avLst>
              <a:gd name="adj" fmla="val 4023"/>
            </a:avLst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84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27048" y="2002536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Value is a managerial accomplishment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532888"/>
            <a:ext cx="4809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produced by observing conditions, navigating the context, applying agentic AI, and obtaining outcomes, not by the tool alone.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81928" y="1783080"/>
            <a:ext cx="5358384" cy="1591056"/>
          </a:xfrm>
          <a:prstGeom prst="roundRect">
            <a:avLst>
              <a:gd name="adj" fmla="val 4023"/>
            </a:avLst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6248" y="1984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42048" y="2002536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organizational context decides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56248" y="2532888"/>
            <a:ext cx="4809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People, data, direction, and compliance shape outcomes more than the technology, so identical use cases diverge sharply across firms.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520440"/>
            <a:ext cx="5358384" cy="1591056"/>
          </a:xfrm>
          <a:prstGeom prst="roundRect">
            <a:avLst>
              <a:gd name="adj" fmla="val 4023"/>
            </a:avLst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216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27048" y="3739896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Paradox runs throughout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270248"/>
            <a:ext cx="4809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technology that creates a risk also supplies the means to govern it; the question is how you use AI, not whether.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81928" y="3520440"/>
            <a:ext cx="5358384" cy="1591056"/>
          </a:xfrm>
          <a:prstGeom prst="roundRect">
            <a:avLst>
              <a:gd name="adj" fmla="val 4023"/>
            </a:avLst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37216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90C4E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42048" y="3739896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practical first move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56248" y="4270248"/>
            <a:ext cx="4809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EA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compliant “laboratory” for safe experimentation, and make marketing and technology leaders genuine partners.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172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Daan Luttik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AB0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How do marketing managers create value with agentic AI?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Value with Agentic AI in Marketing</dc:title>
  <dc:subject>PptxGenJS Presentation</dc:subject>
  <dc:creator>Daan Luttik</dc:creator>
  <cp:lastModifiedBy>Daan Luttik</cp:lastModifiedBy>
  <cp:revision>1</cp:revision>
  <dcterms:created xsi:type="dcterms:W3CDTF">2026-06-22T10:07:21Z</dcterms:created>
  <dcterms:modified xsi:type="dcterms:W3CDTF">2026-06-22T10:07:21Z</dcterms:modified>
</cp:coreProperties>
</file>