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2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26" y="1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9745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kern="0" spc="25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MODEL  ·  STEP 1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Observing external conditions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0C4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  </a:t>
            </a:r>
            <a:r>
              <a:rPr lang="en-US" sz="12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Observe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07208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7" name="Shape 5"/>
          <p:cNvSpPr/>
          <p:nvPr/>
        </p:nvSpPr>
        <p:spPr>
          <a:xfrm>
            <a:off x="3374136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3374136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Navigate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14416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Shape 8"/>
          <p:cNvSpPr/>
          <p:nvPr/>
        </p:nvSpPr>
        <p:spPr>
          <a:xfrm>
            <a:off x="6181344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1" name="Text 9"/>
          <p:cNvSpPr/>
          <p:nvPr/>
        </p:nvSpPr>
        <p:spPr>
          <a:xfrm>
            <a:off x="6181344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21624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Shape 11"/>
          <p:cNvSpPr/>
          <p:nvPr/>
        </p:nvSpPr>
        <p:spPr>
          <a:xfrm>
            <a:off x="8988552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8988552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Obtain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21031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06BA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Monitoring and interpreting the organization’s changing context: sensing the impetus to change before deciding how to respond.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2788920"/>
            <a:ext cx="5358384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841248" y="3008376"/>
            <a:ext cx="4855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7BCD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AI progression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" y="3538728"/>
            <a:ext cx="4828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moves in a “hockey stick”: capabilities and adoption rise faster than teams can track.</a:t>
            </a:r>
            <a:endParaRPr lang="en-US" sz="123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Many managers stop chasing every model and lean on their default vendor’s AI roadmap as a safe haven.</a:t>
            </a:r>
            <a:endParaRPr lang="en-US" sz="123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recurring trap: capability is presented as operational before it truly is.</a:t>
            </a:r>
            <a:endParaRPr lang="en-US" sz="1230" dirty="0"/>
          </a:p>
        </p:txBody>
      </p:sp>
      <p:sp>
        <p:nvSpPr>
          <p:cNvPr id="19" name="Text 17"/>
          <p:cNvSpPr/>
          <p:nvPr/>
        </p:nvSpPr>
        <p:spPr>
          <a:xfrm>
            <a:off x="841248" y="4736592"/>
            <a:ext cx="4828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0A192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“We’re living in an era of change, and a change of era simultaneously.”  </a:t>
            </a:r>
            <a:r>
              <a:rPr lang="en-US" sz="11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Interviewee 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81928" y="2788920"/>
            <a:ext cx="5358384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1" name="Text 19"/>
          <p:cNvSpPr/>
          <p:nvPr/>
        </p:nvSpPr>
        <p:spPr>
          <a:xfrm>
            <a:off x="6556248" y="3008376"/>
            <a:ext cx="4855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7BCD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Market pressure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56248" y="3538728"/>
            <a:ext cx="4828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Competitive pressure is mostly defensive: act so as not to be “left behind”, reaching parity rather than novel value.</a:t>
            </a:r>
            <a:endParaRPr lang="en-US" sz="123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 behavior is shifting: search moves into AI, and “agents of consumers” emerge as a new intermediary.</a:t>
            </a:r>
            <a:endParaRPr lang="en-US" sz="123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Anticipated agentic commerce already drives early, forward-looking investments.</a:t>
            </a:r>
            <a:endParaRPr lang="en-US" sz="1230" dirty="0"/>
          </a:p>
        </p:txBody>
      </p:sp>
      <p:sp>
        <p:nvSpPr>
          <p:cNvPr id="23" name="Text 21"/>
          <p:cNvSpPr/>
          <p:nvPr/>
        </p:nvSpPr>
        <p:spPr>
          <a:xfrm>
            <a:off x="6556248" y="4736592"/>
            <a:ext cx="4828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0A192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“Almost everyone’s been very positive about it because they want to not be left behind.”  </a:t>
            </a:r>
            <a:r>
              <a:rPr lang="en-US" sz="11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Interviewee 8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kern="0" spc="25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MODEL  ·  STEP 2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Navigating the organizational context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Observe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07208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7" name="Shape 5"/>
          <p:cNvSpPr/>
          <p:nvPr/>
        </p:nvSpPr>
        <p:spPr>
          <a:xfrm>
            <a:off x="3374136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3374136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0C4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  </a:t>
            </a:r>
            <a:r>
              <a:rPr lang="en-US" sz="12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Navigate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14416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Shape 8"/>
          <p:cNvSpPr/>
          <p:nvPr/>
        </p:nvSpPr>
        <p:spPr>
          <a:xfrm>
            <a:off x="6181344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1" name="Text 9"/>
          <p:cNvSpPr/>
          <p:nvPr/>
        </p:nvSpPr>
        <p:spPr>
          <a:xfrm>
            <a:off x="6181344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21624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Shape 11"/>
          <p:cNvSpPr/>
          <p:nvPr/>
        </p:nvSpPr>
        <p:spPr>
          <a:xfrm>
            <a:off x="8988552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8988552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Obtain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208483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06BA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Steering or working around the internal conditions that enable or constrain agentic AI. The decisive factor is the context, not the technology.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549640" y="1993392"/>
            <a:ext cx="3090672" cy="868680"/>
          </a:xfrm>
          <a:prstGeom prst="roundRect">
            <a:avLst>
              <a:gd name="adj" fmla="val 7368"/>
            </a:avLst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  <a:effectLst>
            <a:outerShdw blurRad="114300" dist="38100" dir="5400000" algn="bl" rotWithShape="0">
              <a:srgbClr val="16273D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8778240" y="199339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90C4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60–70%</a:t>
            </a:r>
            <a:r>
              <a:rPr lang="en-US" sz="12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people &amp; organization</a:t>
            </a:r>
            <a:endParaRPr lang="en-US" sz="2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EAF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~30% technology  (Interviewee 14)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9" name="Text 17"/>
          <p:cNvSpPr/>
          <p:nvPr/>
        </p:nvSpPr>
        <p:spPr>
          <a:xfrm>
            <a:off x="841248" y="3282696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7BCD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Steering the marketing department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1248" y="3813048"/>
            <a:ext cx="29992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Bringing people along to ease resistance</a:t>
            </a:r>
            <a:endParaRPr lang="en-US" sz="123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Stimulating experimentation, “the laboratory”</a:t>
            </a:r>
            <a:endParaRPr lang="en-US" sz="123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Setting direction; backed by AI champions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4334256" y="306324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2" name="Text 20"/>
          <p:cNvSpPr/>
          <p:nvPr/>
        </p:nvSpPr>
        <p:spPr>
          <a:xfrm>
            <a:off x="4608576" y="3282696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7BCD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Leveraging technical resources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08576" y="3813048"/>
            <a:ext cx="29992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Data, infrastructure, tooling, and talent</a:t>
            </a:r>
            <a:endParaRPr lang="en-US" sz="123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Often owned by other teams, not marketing</a:t>
            </a:r>
            <a:endParaRPr lang="en-US" sz="123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“The CMO should be the CTO’s best friend”</a:t>
            </a:r>
            <a:endParaRPr lang="en-US" sz="1230" dirty="0"/>
          </a:p>
        </p:txBody>
      </p:sp>
      <p:sp>
        <p:nvSpPr>
          <p:cNvPr id="24" name="Shape 22"/>
          <p:cNvSpPr/>
          <p:nvPr/>
        </p:nvSpPr>
        <p:spPr>
          <a:xfrm>
            <a:off x="8101584" y="306324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5" name="Text 23"/>
          <p:cNvSpPr/>
          <p:nvPr/>
        </p:nvSpPr>
        <p:spPr>
          <a:xfrm>
            <a:off x="8375904" y="3282696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7BCD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Dealing with compliance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375904" y="3813048"/>
            <a:ext cx="29992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Accepted as-is; rarely negotiated</a:t>
            </a:r>
            <a:endParaRPr lang="en-US" sz="123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Often the single biggest inhibitor of adoption</a:t>
            </a:r>
            <a:endParaRPr lang="en-US" sz="123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Workarounds and shadow IT fill the gap</a:t>
            </a:r>
            <a:endParaRPr lang="en-US" sz="1230" dirty="0"/>
          </a:p>
        </p:txBody>
      </p:sp>
      <p:sp>
        <p:nvSpPr>
          <p:cNvPr id="27" name="Text 25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kern="0" spc="25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MODEL  ·  STEP 3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Applying agentic AI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Observe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07208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7" name="Shape 5"/>
          <p:cNvSpPr/>
          <p:nvPr/>
        </p:nvSpPr>
        <p:spPr>
          <a:xfrm>
            <a:off x="3374136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3374136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Navigate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14416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Shape 8"/>
          <p:cNvSpPr/>
          <p:nvPr/>
        </p:nvSpPr>
        <p:spPr>
          <a:xfrm>
            <a:off x="6181344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1" name="Text 9"/>
          <p:cNvSpPr/>
          <p:nvPr/>
        </p:nvSpPr>
        <p:spPr>
          <a:xfrm>
            <a:off x="6181344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0C4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  </a:t>
            </a:r>
            <a:r>
              <a:rPr lang="en-US" sz="12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21624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Shape 11"/>
          <p:cNvSpPr/>
          <p:nvPr/>
        </p:nvSpPr>
        <p:spPr>
          <a:xfrm>
            <a:off x="8988552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8988552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Obtain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21031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06BA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Putting agentic AI to work through concrete use cases inside the marketing function.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2606040"/>
            <a:ext cx="5358384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841248" y="2807208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Generating insights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3355848"/>
            <a:ext cx="4855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Analytics at scale across structured and unstructured, internal and public data. Value hinges on data connectivity: connected sources turn week-long reporting into minutes.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81928" y="2606040"/>
            <a:ext cx="5358384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0" name="Text 18"/>
          <p:cNvSpPr/>
          <p:nvPr/>
        </p:nvSpPr>
        <p:spPr>
          <a:xfrm>
            <a:off x="6556248" y="2807208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Creating &amp; validating content and campaigns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56248" y="3355848"/>
            <a:ext cx="4855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End-to-end pipelines from ideation to segmentation, targeting, and validation. Strong on standardized scale, still weak on brand-led creative.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5358384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3" name="Text 21"/>
          <p:cNvSpPr/>
          <p:nvPr/>
        </p:nvSpPr>
        <p:spPr>
          <a:xfrm>
            <a:off x="841248" y="4572000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Utilizing generic agents for personal work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1248" y="5120640"/>
            <a:ext cx="4855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Off-the-shelf agents configured as a “personal operating system”, plus no-code process automation (e.g. Make, n8n) that can replace manual steps.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81928" y="4370832"/>
            <a:ext cx="5358384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6" name="Text 24"/>
          <p:cNvSpPr/>
          <p:nvPr/>
        </p:nvSpPr>
        <p:spPr>
          <a:xfrm>
            <a:off x="6556248" y="4572000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Employing customer-facing agents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556248" y="5120640"/>
            <a:ext cx="4855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Agentic chatbots that act, not just answer, driving retention and upsell, plus an emerging move to support the customer’s own agents.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kern="0" spc="25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MODEL  ·  STEP 4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Obtaining value outcomes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Observe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07208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7" name="Shape 5"/>
          <p:cNvSpPr/>
          <p:nvPr/>
        </p:nvSpPr>
        <p:spPr>
          <a:xfrm>
            <a:off x="3374136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3374136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Navigate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14416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Shape 8"/>
          <p:cNvSpPr/>
          <p:nvPr/>
        </p:nvSpPr>
        <p:spPr>
          <a:xfrm>
            <a:off x="6181344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1" name="Text 9"/>
          <p:cNvSpPr/>
          <p:nvPr/>
        </p:nvSpPr>
        <p:spPr>
          <a:xfrm>
            <a:off x="6181344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  </a:t>
            </a:r>
            <a:r>
              <a:rPr lang="en-US" sz="125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21624" y="1645920"/>
            <a:ext cx="566928" cy="0"/>
          </a:xfrm>
          <a:prstGeom prst="line">
            <a:avLst/>
          </a:prstGeom>
          <a:noFill/>
          <a:ln w="1905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Shape 11"/>
          <p:cNvSpPr/>
          <p:nvPr/>
        </p:nvSpPr>
        <p:spPr>
          <a:xfrm>
            <a:off x="8988552" y="141732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8988552" y="1417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0C4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  </a:t>
            </a:r>
            <a:r>
              <a:rPr lang="en-US" sz="12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Obtain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21031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06BA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Reading the result through value theory: value is the balance of benefits against costs (Woodside et al., 2008).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2788920"/>
            <a:ext cx="3529584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841248" y="297180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66BB6A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Benefits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" y="3502152"/>
            <a:ext cx="29992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Efficiency: the largest, most consistent gain</a:t>
            </a:r>
            <a:endParaRPr lang="en-US" sz="120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Scalability: “armies of super interns”</a:t>
            </a:r>
            <a:endParaRPr lang="en-US" sz="120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Extension of the personal skillset</a:t>
            </a:r>
            <a:endParaRPr lang="en-US" sz="120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of output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34256" y="2788920"/>
            <a:ext cx="3529584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0" name="Text 18"/>
          <p:cNvSpPr/>
          <p:nvPr/>
        </p:nvSpPr>
        <p:spPr>
          <a:xfrm>
            <a:off x="4608576" y="297180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07F2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Sacrifices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608576" y="3502152"/>
            <a:ext cx="29992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i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Likely to materialize</a:t>
            </a:r>
            <a:endParaRPr lang="en-US" sz="120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Financial cost: “AI is also very expensive”</a:t>
            </a:r>
            <a:endParaRPr lang="en-US" sz="120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Job displacement and role change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01584" y="2788920"/>
            <a:ext cx="3529584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3" name="Text 21"/>
          <p:cNvSpPr/>
          <p:nvPr/>
        </p:nvSpPr>
        <p:spPr>
          <a:xfrm>
            <a:off x="8375904" y="297180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A24B36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Risks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75904" y="3502152"/>
            <a:ext cx="29992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i="1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Uncertain, often manageable</a:t>
            </a:r>
            <a:endParaRPr lang="en-US" sz="120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Hallucinations: “sense-check a mediocre analyst”</a:t>
            </a:r>
            <a:endParaRPr lang="en-US" sz="120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Security &amp; privacy violations</a:t>
            </a:r>
            <a:endParaRPr lang="en-US" sz="1200" dirty="0"/>
          </a:p>
          <a:p>
            <a:pPr marL="165100" indent="-1651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Negative brand impact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559552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EAF1F6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26" name="Text 24"/>
          <p:cNvSpPr/>
          <p:nvPr/>
        </p:nvSpPr>
        <p:spPr>
          <a:xfrm>
            <a:off x="841248" y="5559552"/>
            <a:ext cx="105091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92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twist:  </a:t>
            </a:r>
            <a:r>
              <a:rPr lang="en-US" sz="125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very same use case proved transformative in one firm and stalled in another, with outcomes highly uneven.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kern="0" spc="30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PATTERN 1 OF 4 · DIVERGENT OUTCOMES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Context beats technology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06BA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Identical use cases produced very different outcomes across firms. The deciding factor was the organizational context and managerial behavior, not the use case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51760" cy="457200"/>
          </a:xfrm>
          <a:prstGeom prst="rect">
            <a:avLst/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6" name="Text 4"/>
          <p:cNvSpPr/>
          <p:nvPr/>
        </p:nvSpPr>
        <p:spPr>
          <a:xfrm>
            <a:off x="749808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case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18688" y="2212848"/>
            <a:ext cx="4224528" cy="457200"/>
          </a:xfrm>
          <a:prstGeom prst="rect">
            <a:avLst/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3401568" y="2212848"/>
            <a:ext cx="3950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90C4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it created value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43216" y="2212848"/>
            <a:ext cx="4224528" cy="457200"/>
          </a:xfrm>
          <a:prstGeom prst="rect">
            <a:avLst/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7626096" y="2212848"/>
            <a:ext cx="3950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A99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it fell short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26517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2" name="Text 10"/>
          <p:cNvSpPr/>
          <p:nvPr/>
        </p:nvSpPr>
        <p:spPr>
          <a:xfrm>
            <a:off x="749808" y="2670048"/>
            <a:ext cx="2331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Self-service analytics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218688" y="2670048"/>
            <a:ext cx="42245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Text 12"/>
          <p:cNvSpPr/>
          <p:nvPr/>
        </p:nvSpPr>
        <p:spPr>
          <a:xfrm>
            <a:off x="3401568" y="2706624"/>
            <a:ext cx="38587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sources connected directly to the agent; reporting answered in minutes (I15, I4)</a:t>
            </a:r>
            <a:endParaRPr lang="en-US" sz="1180" dirty="0"/>
          </a:p>
        </p:txBody>
      </p:sp>
      <p:sp>
        <p:nvSpPr>
          <p:cNvPr id="15" name="Shape 13"/>
          <p:cNvSpPr/>
          <p:nvPr/>
        </p:nvSpPr>
        <p:spPr>
          <a:xfrm>
            <a:off x="7443216" y="2670048"/>
            <a:ext cx="42245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6" name="Text 14"/>
          <p:cNvSpPr/>
          <p:nvPr/>
        </p:nvSpPr>
        <p:spPr>
          <a:xfrm>
            <a:off x="7626096" y="2706624"/>
            <a:ext cx="38587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data infrastructure or integration, forcing manual workarounds (I3)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566928" y="3694176"/>
            <a:ext cx="2651760" cy="1024128"/>
          </a:xfrm>
          <a:prstGeom prst="rect">
            <a:avLst/>
          </a:prstGeom>
          <a:solidFill>
            <a:srgbClr val="EAF1F6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8" name="Text 16"/>
          <p:cNvSpPr/>
          <p:nvPr/>
        </p:nvSpPr>
        <p:spPr>
          <a:xfrm>
            <a:off x="749808" y="3694176"/>
            <a:ext cx="2331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Content &amp; campaigns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218688" y="3694176"/>
            <a:ext cx="4224528" cy="1024128"/>
          </a:xfrm>
          <a:prstGeom prst="rect">
            <a:avLst/>
          </a:prstGeom>
          <a:solidFill>
            <a:srgbClr val="EAF1F6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0" name="Text 18"/>
          <p:cNvSpPr/>
          <p:nvPr/>
        </p:nvSpPr>
        <p:spPr>
          <a:xfrm>
            <a:off x="3401568" y="3730752"/>
            <a:ext cx="38587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Modular, validated, brand-governed pipelines (I6, I9, I16)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7443216" y="3694176"/>
            <a:ext cx="4224528" cy="1024128"/>
          </a:xfrm>
          <a:prstGeom prst="rect">
            <a:avLst/>
          </a:prstGeom>
          <a:solidFill>
            <a:srgbClr val="EAF1F6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2" name="Text 20"/>
          <p:cNvSpPr/>
          <p:nvPr/>
        </p:nvSpPr>
        <p:spPr>
          <a:xfrm>
            <a:off x="7626096" y="3730752"/>
            <a:ext cx="38587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Missing quality and brand governance, damaging the brand (I15)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>
            <a:off x="566928" y="4718304"/>
            <a:ext cx="26517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4" name="Text 22"/>
          <p:cNvSpPr/>
          <p:nvPr/>
        </p:nvSpPr>
        <p:spPr>
          <a:xfrm>
            <a:off x="749808" y="4718304"/>
            <a:ext cx="2331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Customer-facing agents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218688" y="4718304"/>
            <a:ext cx="42245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6" name="Text 24"/>
          <p:cNvSpPr/>
          <p:nvPr/>
        </p:nvSpPr>
        <p:spPr>
          <a:xfrm>
            <a:off x="3401568" y="4754880"/>
            <a:ext cx="38587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deployed chatbot driving retention and upsell (I6)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>
            <a:off x="7443216" y="4718304"/>
            <a:ext cx="42245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28" name="Text 26"/>
          <p:cNvSpPr/>
          <p:nvPr/>
        </p:nvSpPr>
        <p:spPr>
          <a:xfrm>
            <a:off x="7626096" y="4754880"/>
            <a:ext cx="38587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Early, experimental, or withheld in a regulated sector (I15)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566928" y="580644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92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Implication:  </a:t>
            </a:r>
            <a:r>
              <a:rPr lang="en-US" sz="125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 variance is best explained by the surrounding conditions a manager shapes, which makes navigating the context the core managerial work.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kern="0" spc="30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PATTERN 2 OF 4 · PARADOX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The risk also supplies its own cure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06BA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pattern of paradoxes runs throughout the data: the very technology that creates a risk also supplies the means to govern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40280"/>
            <a:ext cx="5358384" cy="315468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6" name="Text 4"/>
          <p:cNvSpPr/>
          <p:nvPr/>
        </p:nvSpPr>
        <p:spPr>
          <a:xfrm>
            <a:off x="859536" y="2478024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Brand risk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59536" y="30266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kern="0" spc="150" dirty="0">
                <a:solidFill>
                  <a:srgbClr val="A24B3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RISK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3282696"/>
            <a:ext cx="4791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Agents can produce off-brand, tonally wrong, or inauthentic content that customers “see through pretty quickly” (I15).</a:t>
            </a:r>
            <a:endParaRPr lang="en-US" sz="1230" dirty="0"/>
          </a:p>
        </p:txBody>
      </p:sp>
      <p:sp>
        <p:nvSpPr>
          <p:cNvPr id="9" name="Shape 7"/>
          <p:cNvSpPr/>
          <p:nvPr/>
        </p:nvSpPr>
        <p:spPr>
          <a:xfrm>
            <a:off x="932688" y="4123944"/>
            <a:ext cx="274320" cy="274320"/>
          </a:xfrm>
          <a:prstGeom prst="downArrow">
            <a:avLst/>
          </a:prstGeom>
          <a:solidFill>
            <a:srgbClr val="007BCD"/>
          </a:solidFill>
          <a:ln w="12700">
            <a:solidFill>
              <a:srgbClr val="007BCD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859536" y="4453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kern="0" spc="15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GOVERNANCE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9536" y="4709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Brand-governance agents now score content against guidelines and personas, validating both AI and human output (I3, I16).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6281928" y="2240280"/>
            <a:ext cx="5358384" cy="315468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3" name="Text 11"/>
          <p:cNvSpPr/>
          <p:nvPr/>
        </p:nvSpPr>
        <p:spPr>
          <a:xfrm>
            <a:off x="6574536" y="2478024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Hallucination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74536" y="30266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kern="0" spc="150" dirty="0">
                <a:solidFill>
                  <a:srgbClr val="A24B3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RISK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74536" y="3282696"/>
            <a:ext cx="4791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can return confident, incorrect answers, a frequently named risk for any analytical or content task.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6647688" y="4123944"/>
            <a:ext cx="274320" cy="274320"/>
          </a:xfrm>
          <a:prstGeom prst="downArrow">
            <a:avLst/>
          </a:prstGeom>
          <a:solidFill>
            <a:srgbClr val="007BCD"/>
          </a:solidFill>
          <a:ln w="12700">
            <a:solidFill>
              <a:srgbClr val="007BCD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6574536" y="4453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kern="0" spc="15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GOVERNANCE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74536" y="4709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Reframed as “a mediocre analyst you still sense-check” (I13): managed by review, the standard already used for human juniors.</a:t>
            </a:r>
            <a:endParaRPr lang="en-US" sz="1230" dirty="0"/>
          </a:p>
        </p:txBody>
      </p:sp>
      <p:sp>
        <p:nvSpPr>
          <p:cNvPr id="19" name="Text 17"/>
          <p:cNvSpPr/>
          <p:nvPr/>
        </p:nvSpPr>
        <p:spPr>
          <a:xfrm>
            <a:off x="566928" y="557784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A192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 the question shifts:  </a:t>
            </a:r>
            <a:r>
              <a:rPr lang="en-US" sz="1350" i="1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“are you using AI?”, but “how are you using it?”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kern="0" spc="30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PATTERN 3 OF 4 · CAUTION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The optics–reality gap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06BA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Agentic capability is often presented as operational well before it truly is, inflating expectations without anyone doubting the underlying value.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612648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kern="0" spc="150" dirty="0">
                <a:solidFill>
                  <a:srgbClr val="B07F2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IS PRESENTED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41248" y="261518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0A192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“I think we sometimes present something a certain way while we’re trying to actually make it that way in the background.” (I9)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65576" y="3712464"/>
            <a:ext cx="329184" cy="310896"/>
          </a:xfrm>
          <a:prstGeom prst="downArrow">
            <a:avLst/>
          </a:prstGeom>
          <a:solidFill>
            <a:srgbClr val="6E8798"/>
          </a:solidFill>
          <a:ln w="12700">
            <a:solidFill>
              <a:srgbClr val="6E8798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9" name="Shape 7"/>
          <p:cNvSpPr/>
          <p:nvPr/>
        </p:nvSpPr>
        <p:spPr>
          <a:xfrm>
            <a:off x="566928" y="4069080"/>
            <a:ext cx="6126480" cy="1481328"/>
          </a:xfrm>
          <a:prstGeom prst="roundRect">
            <a:avLst>
              <a:gd name="adj" fmla="val 4321"/>
            </a:avLst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  <a:effectLst>
            <a:outerShdw blurRad="114300" dist="38100" dir="5400000" algn="bl" rotWithShape="0">
              <a:srgbClr val="16273D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841248" y="423367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kern="0" spc="150" dirty="0">
                <a:solidFill>
                  <a:srgbClr val="90C4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IS REAL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448970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4EAF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“AI is being overpromised all the time. And we have to reduce expectations.” (I11). Capability still trails the story.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95160" y="2194560"/>
            <a:ext cx="4645152" cy="3355848"/>
          </a:xfrm>
          <a:prstGeom prst="roundRect">
            <a:avLst>
              <a:gd name="adj" fmla="val 1907"/>
            </a:avLst>
          </a:prstGeom>
          <a:solidFill>
            <a:srgbClr val="EAF1F6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3" name="Text 11"/>
          <p:cNvSpPr/>
          <p:nvPr/>
        </p:nvSpPr>
        <p:spPr>
          <a:xfrm>
            <a:off x="7287768" y="2395728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Why it matters for managers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287768" y="2816352"/>
            <a:ext cx="4096512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180" b="1" dirty="0">
                <a:solidFill>
                  <a:srgbClr val="0A192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Defensive adoption: </a:t>
            </a:r>
            <a:r>
              <a:rPr lang="en-US" sz="118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Managers act to avoid being “left behind”, rather than to create novel value.</a:t>
            </a:r>
            <a:endParaRPr lang="en-US" sz="118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180" b="1" dirty="0">
                <a:solidFill>
                  <a:srgbClr val="0A192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Vendor-led strategy: </a:t>
            </a:r>
            <a:r>
              <a:rPr lang="en-US" sz="118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Many follow their default supplier’s AI roadmap instead of doing the interpretive work themselves.</a:t>
            </a:r>
            <a:endParaRPr lang="en-US" sz="118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180" b="1" dirty="0">
                <a:solidFill>
                  <a:srgbClr val="0A192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managerial skill: </a:t>
            </a:r>
            <a:r>
              <a:rPr lang="en-US" sz="118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Separating real capability from its optics becomes part of the job.</a:t>
            </a:r>
            <a:endParaRPr lang="en-US" sz="118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180" b="1" dirty="0">
                <a:solidFill>
                  <a:srgbClr val="0A192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research caveat: </a:t>
            </a:r>
            <a:r>
              <a:rPr lang="en-US" sz="118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Participants may overstate success, so claims need balancing evidence.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kern="0" spc="30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PATTERN 4 OF 4 · PARADOX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The junior paradox &amp; the talent pipeline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06BA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Agentic AI extends what an individual can do, “whole armies of super interns” (I14), yet who that displaces is read two opposite ways.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4028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6" name="Text 4"/>
          <p:cNvSpPr/>
          <p:nvPr/>
        </p:nvSpPr>
        <p:spPr>
          <a:xfrm>
            <a:off x="841248" y="245973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kern="0" spc="15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READING 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69748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Juniors become less relevant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41248" y="3209544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 agentic AI you already have an army of capable juniors on tap, so fewer entry-level hands are needed for the work.</a:t>
            </a:r>
            <a:endParaRPr lang="en-US" sz="1230" dirty="0"/>
          </a:p>
        </p:txBody>
      </p:sp>
      <p:sp>
        <p:nvSpPr>
          <p:cNvPr id="9" name="Shape 7"/>
          <p:cNvSpPr/>
          <p:nvPr/>
        </p:nvSpPr>
        <p:spPr>
          <a:xfrm>
            <a:off x="6281928" y="224028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C5D8E8"/>
            </a:solidFill>
            <a:prstDash val="solid"/>
          </a:ln>
          <a:effectLst>
            <a:outerShdw blurRad="88900" dist="25400" dir="5400000" algn="bl" rotWithShape="0">
              <a:srgbClr val="16273D">
                <a:alpha val="8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0" name="Text 8"/>
          <p:cNvSpPr/>
          <p:nvPr/>
        </p:nvSpPr>
        <p:spPr>
          <a:xfrm>
            <a:off x="6556248" y="245973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kern="0" spc="150" dirty="0">
                <a:solidFill>
                  <a:srgbClr val="007BC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READING B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56248" y="269748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0A192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Seniors are at risk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556248" y="3209544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30" dirty="0">
                <a:solidFill>
                  <a:srgbClr val="3D536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“A junior with AI can do the same thing” for less, so the expensive senior role is the one under pressure (I7).</a:t>
            </a:r>
            <a:endParaRPr lang="en-US" sz="1230" dirty="0"/>
          </a:p>
        </p:txBody>
      </p:sp>
      <p:sp>
        <p:nvSpPr>
          <p:cNvPr id="13" name="Shape 11"/>
          <p:cNvSpPr/>
          <p:nvPr/>
        </p:nvSpPr>
        <p:spPr>
          <a:xfrm>
            <a:off x="3017520" y="4078224"/>
            <a:ext cx="274320" cy="310896"/>
          </a:xfrm>
          <a:prstGeom prst="downArrow">
            <a:avLst/>
          </a:prstGeom>
          <a:solidFill>
            <a:srgbClr val="A24B36"/>
          </a:solidFill>
          <a:ln w="12700">
            <a:solidFill>
              <a:srgbClr val="A24B36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Shape 12"/>
          <p:cNvSpPr/>
          <p:nvPr/>
        </p:nvSpPr>
        <p:spPr>
          <a:xfrm>
            <a:off x="8915400" y="4078224"/>
            <a:ext cx="274320" cy="310896"/>
          </a:xfrm>
          <a:prstGeom prst="downArrow">
            <a:avLst/>
          </a:prstGeom>
          <a:solidFill>
            <a:srgbClr val="A24B36"/>
          </a:solidFill>
          <a:ln w="12700">
            <a:solidFill>
              <a:srgbClr val="A24B36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5" name="Shape 13"/>
          <p:cNvSpPr/>
          <p:nvPr/>
        </p:nvSpPr>
        <p:spPr>
          <a:xfrm>
            <a:off x="566928" y="4480560"/>
            <a:ext cx="11057839" cy="1371600"/>
          </a:xfrm>
          <a:prstGeom prst="roundRect">
            <a:avLst>
              <a:gd name="adj" fmla="val 4667"/>
            </a:avLst>
          </a:prstGeom>
          <a:solidFill>
            <a:srgbClr val="0A1929"/>
          </a:solidFill>
          <a:ln w="12700">
            <a:solidFill>
              <a:srgbClr val="0A1929"/>
            </a:solidFill>
            <a:prstDash val="solid"/>
          </a:ln>
          <a:effectLst>
            <a:outerShdw blurRad="114300" dist="38100" dir="5400000" algn="bl" rotWithShape="0">
              <a:srgbClr val="16273D">
                <a:alpha val="10000"/>
              </a:srgbClr>
            </a:outerShdw>
          </a:effectLst>
        </p:spPr>
        <p:txBody>
          <a:bodyPr/>
          <a:lstStyle/>
          <a:p>
            <a:endParaRPr lang="nl-NL"/>
          </a:p>
        </p:txBody>
      </p:sp>
      <p:sp>
        <p:nvSpPr>
          <p:cNvPr id="16" name="Text 14"/>
          <p:cNvSpPr/>
          <p:nvPr/>
        </p:nvSpPr>
        <p:spPr>
          <a:xfrm>
            <a:off x="88696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kern="0" spc="200" dirty="0">
                <a:solidFill>
                  <a:srgbClr val="90C4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DEEPER RISK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86968" y="4937760"/>
            <a:ext cx="104177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“You no longer develop juniors into seniors … a major risk: no new talent pipeline.” (I10)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86968" y="5394960"/>
            <a:ext cx="10417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D4EAF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augments individuals today, but may erode the pipeline that produces tomorrow’s experts.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Creating Value with Agentic AI in Marketing   ·   Daan Luttik, MBA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900" dirty="0">
                <a:solidFill>
                  <a:srgbClr val="6E879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4864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kern="0" spc="400" dirty="0">
                <a:solidFill>
                  <a:srgbClr val="90C4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SUM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it takes to create value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58384" cy="1591056"/>
          </a:xfrm>
          <a:prstGeom prst="roundRect">
            <a:avLst>
              <a:gd name="adj" fmla="val 4023"/>
            </a:avLst>
          </a:prstGeom>
          <a:solidFill>
            <a:srgbClr val="0D1F35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841248" y="19842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90C4E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27048" y="200253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Value is a managerial accomplishment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41248" y="2532888"/>
            <a:ext cx="48097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EAF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 is produced by observing conditions, navigating the context, applying agentic AI, and obtaining outcomes, not by the tool alone.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1928" y="1783080"/>
            <a:ext cx="5358384" cy="1591056"/>
          </a:xfrm>
          <a:prstGeom prst="roundRect">
            <a:avLst>
              <a:gd name="adj" fmla="val 4023"/>
            </a:avLst>
          </a:prstGeom>
          <a:solidFill>
            <a:srgbClr val="0D1F35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9" name="Text 7"/>
          <p:cNvSpPr/>
          <p:nvPr/>
        </p:nvSpPr>
        <p:spPr>
          <a:xfrm>
            <a:off x="6556248" y="19842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90C4E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242048" y="200253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The organizational context decides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556248" y="2532888"/>
            <a:ext cx="48097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EAF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People, data, direction, and compliance shape outcomes more than the technology, so identical use cases diverge sharply across firms.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520440"/>
            <a:ext cx="5358384" cy="1591056"/>
          </a:xfrm>
          <a:prstGeom prst="roundRect">
            <a:avLst>
              <a:gd name="adj" fmla="val 4023"/>
            </a:avLst>
          </a:prstGeom>
          <a:solidFill>
            <a:srgbClr val="0D1F35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Text 11"/>
          <p:cNvSpPr/>
          <p:nvPr/>
        </p:nvSpPr>
        <p:spPr>
          <a:xfrm>
            <a:off x="841248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90C4E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27048" y="373989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Paradox runs throughout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41248" y="4270248"/>
            <a:ext cx="48097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EAF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technology that creates a risk also supplies the means to govern it; the question is how you use AI, not whether.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520440"/>
            <a:ext cx="5358384" cy="1591056"/>
          </a:xfrm>
          <a:prstGeom prst="roundRect">
            <a:avLst>
              <a:gd name="adj" fmla="val 4023"/>
            </a:avLst>
          </a:prstGeom>
          <a:solidFill>
            <a:srgbClr val="0D1F35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7" name="Text 15"/>
          <p:cNvSpPr/>
          <p:nvPr/>
        </p:nvSpPr>
        <p:spPr>
          <a:xfrm>
            <a:off x="6556248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90C4E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42048" y="373989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 practical first move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556248" y="4270248"/>
            <a:ext cx="48097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EAF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 a compliant “laboratory” for safe experimentation, and make marketing and technology leaders genuine partners.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61722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Daan Luttik</a:t>
            </a:r>
            <a:r>
              <a:rPr lang="en-US" sz="1300" i="1" dirty="0">
                <a:solidFill>
                  <a:srgbClr val="8AB0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  How do marketing managers create value with agentic AI?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1460</Words>
  <Application>Microsoft Office PowerPoint</Application>
  <PresentationFormat>Widescreen</PresentationFormat>
  <Paragraphs>169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DM Sans</vt:lpstr>
      <vt:lpstr>Lora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Creating Value with Agentic AI in Marketing</dc:title>
  <dc:subject>PptxGenJS Presentation</dc:subject>
  <dc:creator>Daan Luttik</dc:creator>
  <cp:lastModifiedBy>Luttik, Daan</cp:lastModifiedBy>
  <cp:revision>2</cp:revision>
  <dcterms:created xsi:type="dcterms:W3CDTF">2026-06-25T17:07:17Z</dcterms:created>
  <dcterms:modified xsi:type="dcterms:W3CDTF">2026-06-25T20:34:20Z</dcterms:modified>
</cp:coreProperties>
</file>